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28600"/>
          </a:xfrm>
          <a:prstGeom prst="rect">
            <a:avLst/>
          </a:prstGeom>
          <a:solidFill>
            <a:srgbClr val="1C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1C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45720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 i="0">
                <a:solidFill>
                  <a:srgbClr val="E8F1F8"/>
                </a:solidFill>
                <a:latin typeface="Calibri"/>
              </a:rPr>
              <a:t>MUHAMMAD AL-XORAZMIY NOMIDAGI TOSHKENT AXBOROT</a:t>
            </a:r>
          </a:p>
          <a:p>
            <a:pPr algn="ctr"/>
            <a:r>
              <a:rPr sz="1400" b="1" i="0">
                <a:solidFill>
                  <a:srgbClr val="E8F1F8"/>
                </a:solidFill>
                <a:latin typeface="Calibri"/>
              </a:rPr>
              <a:t>TEXNOLOGIYALARI UNIVERSITETI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698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 i="0">
                <a:solidFill>
                  <a:srgbClr val="AEC8DD"/>
                </a:solidFill>
                <a:latin typeface="Calibri"/>
              </a:rPr>
              <a:t>Kiberxavfsizlik fakulteti  •  Kriptologiya kafedrasi</a:t>
            </a:r>
          </a:p>
        </p:txBody>
      </p:sp>
      <p:sp>
        <p:nvSpPr>
          <p:cNvPr id="7" name="Rectangle 6"/>
          <p:cNvSpPr/>
          <p:nvPr/>
        </p:nvSpPr>
        <p:spPr>
          <a:xfrm>
            <a:off x="1371600" y="2331720"/>
            <a:ext cx="9418320" cy="54864"/>
          </a:xfrm>
          <a:prstGeom prst="rect">
            <a:avLst/>
          </a:prstGeom>
          <a:solidFill>
            <a:srgbClr val="1C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74519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DIPLOM LOYIHASI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651760"/>
            <a:ext cx="1033272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  <a:latin typeface="Calibri"/>
              </a:rPr>
              <a:t>Yengil vaznli kriptografik xesh</a:t>
            </a:r>
          </a:p>
          <a:p>
            <a:pPr algn="ctr"/>
            <a:r>
              <a:rPr sz="3600" b="1" i="0">
                <a:solidFill>
                  <a:srgbClr val="FFFFFF"/>
                </a:solidFill>
                <a:latin typeface="Calibri"/>
              </a:rPr>
              <a:t>funksiyalarning tahlili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0" y="4297680"/>
            <a:ext cx="9418320" cy="54864"/>
          </a:xfrm>
          <a:prstGeom prst="rect">
            <a:avLst/>
          </a:prstGeom>
          <a:solidFill>
            <a:srgbClr val="1C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4709160"/>
            <a:ext cx="10698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0" i="0">
                <a:solidFill>
                  <a:srgbClr val="E8F1F8"/>
                </a:solidFill>
                <a:latin typeface="Calibri"/>
              </a:rPr>
              <a:t>Bajardi:  Axmadxo'jayev Abbosxon Akmalxon o'g'li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212080"/>
            <a:ext cx="10698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0" i="0">
                <a:solidFill>
                  <a:srgbClr val="AEC8DD"/>
                </a:solidFill>
                <a:latin typeface="Calibri"/>
              </a:rPr>
              <a:t>Ilmiy rahbar:  ____________________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943600"/>
            <a:ext cx="10698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Toshkent –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1C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0"/>
            <a:ext cx="100584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Taqdimot rejasi</a:t>
            </a:r>
          </a:p>
        </p:txBody>
      </p:sp>
      <p:sp>
        <p:nvSpPr>
          <p:cNvPr id="6" name="Rectangle 5"/>
          <p:cNvSpPr/>
          <p:nvPr/>
        </p:nvSpPr>
        <p:spPr>
          <a:xfrm>
            <a:off x="11247120" y="292608"/>
            <a:ext cx="457200" cy="457200"/>
          </a:xfrm>
          <a:prstGeom prst="rect">
            <a:avLst/>
          </a:prstGeom>
          <a:solidFill>
            <a:srgbClr val="1C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47120" y="292608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1463040"/>
            <a:ext cx="502920" cy="502920"/>
          </a:xfrm>
          <a:prstGeom prst="rect">
            <a:avLst/>
          </a:prstGeom>
          <a:solidFill>
            <a:srgbClr val="1C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463040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08760" y="1463040"/>
            <a:ext cx="9601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900" b="0" i="0">
                <a:solidFill>
                  <a:srgbClr val="444A52"/>
                </a:solidFill>
                <a:latin typeface="Calibri"/>
              </a:rPr>
              <a:t>Mavzuning dolzarbligi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039112"/>
            <a:ext cx="502920" cy="502920"/>
          </a:xfrm>
          <a:prstGeom prst="rect">
            <a:avLst/>
          </a:prstGeom>
          <a:solidFill>
            <a:srgbClr val="0F2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039112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8760" y="2039112"/>
            <a:ext cx="9601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900" b="0" i="0">
                <a:solidFill>
                  <a:srgbClr val="444A52"/>
                </a:solidFill>
                <a:latin typeface="Calibri"/>
              </a:rPr>
              <a:t>Muammoning qo'yilishi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2615184"/>
            <a:ext cx="502920" cy="502920"/>
          </a:xfrm>
          <a:prstGeom prst="rect">
            <a:avLst/>
          </a:prstGeom>
          <a:solidFill>
            <a:srgbClr val="1C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2615184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2615184"/>
            <a:ext cx="9601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900" b="0" i="0">
                <a:solidFill>
                  <a:srgbClr val="444A52"/>
                </a:solidFill>
                <a:latin typeface="Calibri"/>
              </a:rPr>
              <a:t>Diplom loyihasi maqsadi va vazifalari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3191256"/>
            <a:ext cx="502920" cy="502920"/>
          </a:xfrm>
          <a:prstGeom prst="rect">
            <a:avLst/>
          </a:prstGeom>
          <a:solidFill>
            <a:srgbClr val="0F2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3191256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3191256"/>
            <a:ext cx="9601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900" b="0" i="0">
                <a:solidFill>
                  <a:srgbClr val="444A52"/>
                </a:solidFill>
                <a:latin typeface="Calibri"/>
              </a:rPr>
              <a:t>Kriptografik xesh funksiyalar — nazariy asoslar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3767328"/>
            <a:ext cx="502920" cy="502920"/>
          </a:xfrm>
          <a:prstGeom prst="rect">
            <a:avLst/>
          </a:prstGeom>
          <a:solidFill>
            <a:srgbClr val="1C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3767328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08760" y="3767328"/>
            <a:ext cx="9601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900" b="0" i="0">
                <a:solidFill>
                  <a:srgbClr val="444A52"/>
                </a:solidFill>
                <a:latin typeface="Calibri"/>
              </a:rPr>
              <a:t>Yengil vaznli xesh funksiyalar (Ascon, PHOTON, SPONGENT)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4343400"/>
            <a:ext cx="502920" cy="502920"/>
          </a:xfrm>
          <a:prstGeom prst="rect">
            <a:avLst/>
          </a:prstGeom>
          <a:solidFill>
            <a:srgbClr val="0F2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4343400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08760" y="4343400"/>
            <a:ext cx="9601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900" b="0" i="0">
                <a:solidFill>
                  <a:srgbClr val="444A52"/>
                </a:solidFill>
                <a:latin typeface="Calibri"/>
              </a:rPr>
              <a:t>Solishtirma tahlil va dasturiy ta'minot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4919472"/>
            <a:ext cx="502920" cy="502920"/>
          </a:xfrm>
          <a:prstGeom prst="rect">
            <a:avLst/>
          </a:prstGeom>
          <a:solidFill>
            <a:srgbClr val="1C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4919472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08760" y="4919472"/>
            <a:ext cx="9601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900" b="0" i="0">
                <a:solidFill>
                  <a:srgbClr val="444A52"/>
                </a:solidFill>
                <a:latin typeface="Calibri"/>
              </a:rPr>
              <a:t>Tadqiqot natijalari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2960" y="5495544"/>
            <a:ext cx="502920" cy="502920"/>
          </a:xfrm>
          <a:prstGeom prst="rect">
            <a:avLst/>
          </a:prstGeom>
          <a:solidFill>
            <a:srgbClr val="0F2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60" y="5495544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08760" y="5495544"/>
            <a:ext cx="9601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900" b="0" i="0">
                <a:solidFill>
                  <a:srgbClr val="444A52"/>
                </a:solidFill>
                <a:latin typeface="Calibri"/>
              </a:rPr>
              <a:t>Xulosa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1C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0"/>
            <a:ext cx="100584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Mavzuning dolzarbligi</a:t>
            </a:r>
          </a:p>
        </p:txBody>
      </p:sp>
      <p:sp>
        <p:nvSpPr>
          <p:cNvPr id="6" name="Rectangle 5"/>
          <p:cNvSpPr/>
          <p:nvPr/>
        </p:nvSpPr>
        <p:spPr>
          <a:xfrm>
            <a:off x="11247120" y="292608"/>
            <a:ext cx="457200" cy="457200"/>
          </a:xfrm>
          <a:prstGeom prst="rect">
            <a:avLst/>
          </a:prstGeom>
          <a:solidFill>
            <a:srgbClr val="1C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47120" y="292608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106984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800" b="1">
                <a:solidFill>
                  <a:srgbClr val="1C6EA4"/>
                </a:solidFill>
                <a:latin typeface="Calibri"/>
              </a:rPr>
              <a:t>▸  </a:t>
            </a:r>
            <a:r>
              <a:rPr sz="1800">
                <a:solidFill>
                  <a:srgbClr val="444A52"/>
                </a:solidFill>
                <a:latin typeface="Calibri"/>
              </a:rPr>
              <a:t>IoT (Narsalar interneti) qurilmalari soni keskin o'smoqda — milliardlab sensor va RFID teglar.</a:t>
            </a:r>
          </a:p>
          <a:p>
            <a:pPr algn="l">
              <a:spcAft>
                <a:spcPts val="1400"/>
              </a:spcAft>
            </a:pPr>
            <a:r>
              <a:rPr sz="1800" b="1">
                <a:solidFill>
                  <a:srgbClr val="1C6EA4"/>
                </a:solidFill>
                <a:latin typeface="Calibri"/>
              </a:rPr>
              <a:t>▸  </a:t>
            </a:r>
            <a:r>
              <a:rPr sz="1800">
                <a:solidFill>
                  <a:srgbClr val="444A52"/>
                </a:solidFill>
                <a:latin typeface="Calibri"/>
              </a:rPr>
              <a:t>Bunday qurilmalar resurslari cheklangan: kam quvvat, kichik xotira, past hisoblash imkoniyati.</a:t>
            </a:r>
          </a:p>
          <a:p>
            <a:pPr algn="l">
              <a:spcAft>
                <a:spcPts val="1400"/>
              </a:spcAft>
            </a:pPr>
            <a:r>
              <a:rPr sz="1800" b="1">
                <a:solidFill>
                  <a:srgbClr val="1C6EA4"/>
                </a:solidFill>
                <a:latin typeface="Calibri"/>
              </a:rPr>
              <a:t>▸  </a:t>
            </a:r>
            <a:r>
              <a:rPr sz="1800">
                <a:solidFill>
                  <a:srgbClr val="444A52"/>
                </a:solidFill>
                <a:latin typeface="Calibri"/>
              </a:rPr>
              <a:t>An'anaviy xesh funksiyalar (SHA-256, SHA-3) bunday qurilmalar uchun og'irlik qiladi.</a:t>
            </a:r>
          </a:p>
          <a:p>
            <a:pPr algn="l">
              <a:spcAft>
                <a:spcPts val="1400"/>
              </a:spcAft>
            </a:pPr>
            <a:r>
              <a:rPr sz="1800" b="1">
                <a:solidFill>
                  <a:srgbClr val="1C6EA4"/>
                </a:solidFill>
                <a:latin typeface="Calibri"/>
              </a:rPr>
              <a:t>▸  </a:t>
            </a:r>
            <a:r>
              <a:rPr sz="1800">
                <a:solidFill>
                  <a:srgbClr val="444A52"/>
                </a:solidFill>
                <a:latin typeface="Calibri"/>
              </a:rPr>
              <a:t>Yengil vaznli (lightweight) kriptografiya — zamonaviy axborot xavfsizligining ustuvor yo'nalishi.</a:t>
            </a:r>
          </a:p>
          <a:p>
            <a:pPr algn="l">
              <a:spcAft>
                <a:spcPts val="1400"/>
              </a:spcAft>
            </a:pPr>
            <a:r>
              <a:rPr sz="1800" b="1">
                <a:solidFill>
                  <a:srgbClr val="1C6EA4"/>
                </a:solidFill>
                <a:latin typeface="Calibri"/>
              </a:rPr>
              <a:t>▸  </a:t>
            </a:r>
            <a:r>
              <a:rPr sz="1800">
                <a:solidFill>
                  <a:srgbClr val="444A52"/>
                </a:solidFill>
                <a:latin typeface="Calibri"/>
              </a:rPr>
              <a:t>NIST 2023-yilda Ascon algoritmini yengil vaznli kriptografiya standarti sifatida tanladi.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4754880"/>
            <a:ext cx="10698480" cy="1463040"/>
          </a:xfrm>
          <a:prstGeom prst="rect">
            <a:avLst/>
          </a:prstGeom>
          <a:solidFill>
            <a:srgbClr val="E8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4754880"/>
            <a:ext cx="109728" cy="1463040"/>
          </a:xfrm>
          <a:prstGeom prst="rect">
            <a:avLst/>
          </a:prstGeom>
          <a:solidFill>
            <a:srgbClr val="1C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892040"/>
            <a:ext cx="101498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>
                <a:solidFill>
                  <a:srgbClr val="444A52"/>
                </a:solidFill>
                <a:latin typeface="Calibri"/>
              </a:rPr>
              <a:t>Normativ asos:</a:t>
            </a:r>
          </a:p>
          <a:p>
            <a:pPr algn="l"/>
            <a:r>
              <a:rPr sz="1500" b="0" i="0">
                <a:solidFill>
                  <a:srgbClr val="444A52"/>
                </a:solidFill>
                <a:latin typeface="Calibri"/>
              </a:rPr>
              <a:t>• O'zbekiston-2030 strategiyasi (PF-158, 2023)</a:t>
            </a:r>
          </a:p>
          <a:p>
            <a:pPr algn="l"/>
            <a:r>
              <a:rPr sz="1500" b="0" i="0">
                <a:solidFill>
                  <a:srgbClr val="444A52"/>
                </a:solidFill>
                <a:latin typeface="Calibri"/>
              </a:rPr>
              <a:t>• Kriptologiya sohasini rivojlantirish (PQ-293, 2024)  •  «Kiberxavfsizlik to'g'risida»gi Qonun (O'RQ-764, 2022)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1C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0"/>
            <a:ext cx="100584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Muammoning qo'yilishi</a:t>
            </a:r>
          </a:p>
        </p:txBody>
      </p:sp>
      <p:sp>
        <p:nvSpPr>
          <p:cNvPr id="6" name="Rectangle 5"/>
          <p:cNvSpPr/>
          <p:nvPr/>
        </p:nvSpPr>
        <p:spPr>
          <a:xfrm>
            <a:off x="11247120" y="292608"/>
            <a:ext cx="457200" cy="457200"/>
          </a:xfrm>
          <a:prstGeom prst="rect">
            <a:avLst/>
          </a:prstGeom>
          <a:solidFill>
            <a:srgbClr val="1C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47120" y="292608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2588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 i="0">
                <a:solidFill>
                  <a:srgbClr val="0F2C4A"/>
                </a:solidFill>
                <a:latin typeface="Calibri"/>
              </a:rPr>
              <a:t>Resurslari cheklangan qurilmalarda xavfsizlik va samaradorlik o'rtasidagi ziddiyat: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103120"/>
            <a:ext cx="5120640" cy="3566160"/>
          </a:xfrm>
          <a:prstGeom prst="rect">
            <a:avLst/>
          </a:prstGeom>
          <a:solidFill>
            <a:srgbClr val="E8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286000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 i="0">
                <a:solidFill>
                  <a:srgbClr val="1C6EA4"/>
                </a:solidFill>
                <a:latin typeface="Calibri"/>
              </a:rPr>
              <a:t>An'anaviy xesh funksiyalar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834640"/>
            <a:ext cx="47548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1">
                <a:solidFill>
                  <a:srgbClr val="1C6EA4"/>
                </a:solidFill>
                <a:latin typeface="Calibri"/>
              </a:rPr>
              <a:t>▸  </a:t>
            </a:r>
            <a:r>
              <a:rPr sz="1600">
                <a:solidFill>
                  <a:srgbClr val="444A52"/>
                </a:solidFill>
                <a:latin typeface="Calibri"/>
              </a:rPr>
              <a:t>Yuqori xavfsizlik darajasi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1C6EA4"/>
                </a:solidFill>
                <a:latin typeface="Calibri"/>
              </a:rPr>
              <a:t>▸  </a:t>
            </a:r>
            <a:r>
              <a:rPr sz="1600">
                <a:solidFill>
                  <a:srgbClr val="444A52"/>
                </a:solidFill>
                <a:latin typeface="Calibri"/>
              </a:rPr>
              <a:t>Katta gate ekvivalenti (10 000+ GE)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1C6EA4"/>
                </a:solidFill>
                <a:latin typeface="Calibri"/>
              </a:rPr>
              <a:t>▸  </a:t>
            </a:r>
            <a:r>
              <a:rPr sz="1600">
                <a:solidFill>
                  <a:srgbClr val="444A52"/>
                </a:solidFill>
                <a:latin typeface="Calibri"/>
              </a:rPr>
              <a:t>Ko'p xotira va quvvat talab qiladi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1C6EA4"/>
                </a:solidFill>
                <a:latin typeface="Calibri"/>
              </a:rPr>
              <a:t>▸  </a:t>
            </a:r>
            <a:r>
              <a:rPr sz="1600">
                <a:solidFill>
                  <a:srgbClr val="444A52"/>
                </a:solidFill>
                <a:latin typeface="Calibri"/>
              </a:rPr>
              <a:t>IoT qurilmalari uchun mos emas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60" y="2103120"/>
            <a:ext cx="5120640" cy="3566160"/>
          </a:xfrm>
          <a:prstGeom prst="rect">
            <a:avLst/>
          </a:prstGeom>
          <a:solidFill>
            <a:srgbClr val="0F2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286000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 i="0">
                <a:solidFill>
                  <a:srgbClr val="E8F1F8"/>
                </a:solidFill>
                <a:latin typeface="Calibri"/>
              </a:rPr>
              <a:t>Yengil vaznli xesh funksiyalar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834640"/>
            <a:ext cx="47548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1">
                <a:solidFill>
                  <a:srgbClr val="6FB5E0"/>
                </a:solidFill>
                <a:latin typeface="Calibri"/>
              </a:rPr>
              <a:t>▸  </a:t>
            </a:r>
            <a:r>
              <a:rPr sz="1600">
                <a:solidFill>
                  <a:srgbClr val="E8F1F8"/>
                </a:solidFill>
                <a:latin typeface="Calibri"/>
              </a:rPr>
              <a:t>Past resurs sarfi (1 300–3 700 GE)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6FB5E0"/>
                </a:solidFill>
                <a:latin typeface="Calibri"/>
              </a:rPr>
              <a:t>▸  </a:t>
            </a:r>
            <a:r>
              <a:rPr sz="1600">
                <a:solidFill>
                  <a:srgbClr val="E8F1F8"/>
                </a:solidFill>
                <a:latin typeface="Calibri"/>
              </a:rPr>
              <a:t>Kam xotira va energiya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6FB5E0"/>
                </a:solidFill>
                <a:latin typeface="Calibri"/>
              </a:rPr>
              <a:t>▸  </a:t>
            </a:r>
            <a:r>
              <a:rPr sz="1600">
                <a:solidFill>
                  <a:srgbClr val="E8F1F8"/>
                </a:solidFill>
                <a:latin typeface="Calibri"/>
              </a:rPr>
              <a:t>IoT, RFID, sensorlar uchun mos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6FB5E0"/>
                </a:solidFill>
                <a:latin typeface="Calibri"/>
              </a:rPr>
              <a:t>▸  </a:t>
            </a:r>
            <a:r>
              <a:rPr sz="1600">
                <a:solidFill>
                  <a:srgbClr val="E8F1F8"/>
                </a:solidFill>
                <a:latin typeface="Calibri"/>
              </a:rPr>
              <a:t>Standartlashtirish jarayoni davom etmoqda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1C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0"/>
            <a:ext cx="100584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Maqsad va vazifalar</a:t>
            </a:r>
          </a:p>
        </p:txBody>
      </p:sp>
      <p:sp>
        <p:nvSpPr>
          <p:cNvPr id="6" name="Rectangle 5"/>
          <p:cNvSpPr/>
          <p:nvPr/>
        </p:nvSpPr>
        <p:spPr>
          <a:xfrm>
            <a:off x="11247120" y="292608"/>
            <a:ext cx="457200" cy="457200"/>
          </a:xfrm>
          <a:prstGeom prst="rect">
            <a:avLst/>
          </a:prstGeom>
          <a:solidFill>
            <a:srgbClr val="1C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47120" y="292608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371600"/>
            <a:ext cx="10698480" cy="1097280"/>
          </a:xfrm>
          <a:prstGeom prst="rect">
            <a:avLst/>
          </a:prstGeom>
          <a:solidFill>
            <a:srgbClr val="1C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508760"/>
            <a:ext cx="101498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Maqsad:  Yengil vaznli kriptografik xesh funksiyalarni tahlil qilish, ularning samaradorligini baholash va solishtirma dasturiy vositani ishlab chiqish.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6974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 i="0">
                <a:solidFill>
                  <a:srgbClr val="0F2C4A"/>
                </a:solidFill>
                <a:latin typeface="Calibri"/>
              </a:rPr>
              <a:t>Vazifalar: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200400"/>
            <a:ext cx="106984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800" b="1">
                <a:solidFill>
                  <a:srgbClr val="1C6EA4"/>
                </a:solidFill>
                <a:latin typeface="Calibri"/>
              </a:rPr>
              <a:t>▸  </a:t>
            </a:r>
            <a:r>
              <a:rPr sz="1800">
                <a:solidFill>
                  <a:srgbClr val="444A52"/>
                </a:solidFill>
                <a:latin typeface="Calibri"/>
              </a:rPr>
              <a:t>Axborotlarni kriptografik himoyalash va butunlikni ta'minlash usullarini o'rganish;</a:t>
            </a:r>
          </a:p>
          <a:p>
            <a:pPr algn="l">
              <a:spcAft>
                <a:spcPts val="1400"/>
              </a:spcAft>
            </a:pPr>
            <a:r>
              <a:rPr sz="1800" b="1">
                <a:solidFill>
                  <a:srgbClr val="1C6EA4"/>
                </a:solidFill>
                <a:latin typeface="Calibri"/>
              </a:rPr>
              <a:t>▸  </a:t>
            </a:r>
            <a:r>
              <a:rPr sz="1800">
                <a:solidFill>
                  <a:srgbClr val="444A52"/>
                </a:solidFill>
                <a:latin typeface="Calibri"/>
              </a:rPr>
              <a:t>An'anaviy va yengil vaznli xesh funksiyalar tasnifini tahlil qilish;</a:t>
            </a:r>
          </a:p>
          <a:p>
            <a:pPr algn="l">
              <a:spcAft>
                <a:spcPts val="1400"/>
              </a:spcAft>
            </a:pPr>
            <a:r>
              <a:rPr sz="1800" b="1">
                <a:solidFill>
                  <a:srgbClr val="1C6EA4"/>
                </a:solidFill>
                <a:latin typeface="Calibri"/>
              </a:rPr>
              <a:t>▸  </a:t>
            </a:r>
            <a:r>
              <a:rPr sz="1800">
                <a:solidFill>
                  <a:srgbClr val="444A52"/>
                </a:solidFill>
                <a:latin typeface="Calibri"/>
              </a:rPr>
              <a:t>Ascon, PHOTON, SPONGENT algoritmlarining tuzilishini o'rganish;</a:t>
            </a:r>
          </a:p>
          <a:p>
            <a:pPr algn="l">
              <a:spcAft>
                <a:spcPts val="1400"/>
              </a:spcAft>
            </a:pPr>
            <a:r>
              <a:rPr sz="1800" b="1">
                <a:solidFill>
                  <a:srgbClr val="1C6EA4"/>
                </a:solidFill>
                <a:latin typeface="Calibri"/>
              </a:rPr>
              <a:t>▸  </a:t>
            </a:r>
            <a:r>
              <a:rPr sz="1800">
                <a:solidFill>
                  <a:srgbClr val="444A52"/>
                </a:solidFill>
                <a:latin typeface="Calibri"/>
              </a:rPr>
              <a:t>Avalanche effekti, tezlik va resurs sarfi bo'yicha solishtirma tahlil o'tkazish;</a:t>
            </a:r>
          </a:p>
          <a:p>
            <a:pPr algn="l">
              <a:spcAft>
                <a:spcPts val="1400"/>
              </a:spcAft>
            </a:pPr>
            <a:r>
              <a:rPr sz="1800" b="1">
                <a:solidFill>
                  <a:srgbClr val="1C6EA4"/>
                </a:solidFill>
                <a:latin typeface="Calibri"/>
              </a:rPr>
              <a:t>▸  </a:t>
            </a:r>
            <a:r>
              <a:rPr sz="1800">
                <a:solidFill>
                  <a:srgbClr val="444A52"/>
                </a:solidFill>
                <a:latin typeface="Calibri"/>
              </a:rPr>
              <a:t>Solishtirma natijalarni ko'rsatuvchi dasturiy ta'minot ishlab chiqish.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1C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0"/>
            <a:ext cx="100584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I BOB. Kriptografik xesh funksiyalar</a:t>
            </a:r>
          </a:p>
        </p:txBody>
      </p:sp>
      <p:sp>
        <p:nvSpPr>
          <p:cNvPr id="6" name="Rectangle 5"/>
          <p:cNvSpPr/>
          <p:nvPr/>
        </p:nvSpPr>
        <p:spPr>
          <a:xfrm>
            <a:off x="11247120" y="292608"/>
            <a:ext cx="457200" cy="457200"/>
          </a:xfrm>
          <a:prstGeom prst="rect">
            <a:avLst/>
          </a:prstGeom>
          <a:solidFill>
            <a:srgbClr val="1C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47120" y="292608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25880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>
                <a:solidFill>
                  <a:srgbClr val="444A52"/>
                </a:solidFill>
                <a:latin typeface="Calibri"/>
              </a:rPr>
              <a:t>Xesh funksiya — ixtiyoriy uzunlikdagi ma'lumotni belgilangan o'lchamli (digest) qiymatga aylantiruvchi bir tomonlama funksiya:  H: {0,1}* → {0,1}ⁿ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28600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>
                <a:solidFill>
                  <a:srgbClr val="0F2C4A"/>
                </a:solidFill>
                <a:latin typeface="Calibri"/>
              </a:rPr>
              <a:t>Asosiy xavfsizlik talablari: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106984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1">
                <a:solidFill>
                  <a:srgbClr val="1C6EA4"/>
                </a:solidFill>
                <a:latin typeface="Calibri"/>
              </a:rPr>
              <a:t>▸  </a:t>
            </a:r>
            <a:r>
              <a:rPr sz="1700">
                <a:solidFill>
                  <a:srgbClr val="444A52"/>
                </a:solidFill>
                <a:latin typeface="Calibri"/>
              </a:rPr>
              <a:t>Bir tomonlilik (preimage resistance) — xeshdan asl ma'lumotni tiklab bo'lmaydi;</a:t>
            </a:r>
          </a:p>
          <a:p>
            <a:pPr algn="l">
              <a:spcAft>
                <a:spcPts val="1000"/>
              </a:spcAft>
            </a:pPr>
            <a:r>
              <a:rPr sz="1700" b="1">
                <a:solidFill>
                  <a:srgbClr val="1C6EA4"/>
                </a:solidFill>
                <a:latin typeface="Calibri"/>
              </a:rPr>
              <a:t>▸  </a:t>
            </a:r>
            <a:r>
              <a:rPr sz="1700">
                <a:solidFill>
                  <a:srgbClr val="444A52"/>
                </a:solidFill>
                <a:latin typeface="Calibri"/>
              </a:rPr>
              <a:t>Ikkinchi preimage qarshiligi — bir xil xeshli boshqa xabar topib bo'lmaydi;</a:t>
            </a:r>
          </a:p>
          <a:p>
            <a:pPr algn="l">
              <a:spcAft>
                <a:spcPts val="1000"/>
              </a:spcAft>
            </a:pPr>
            <a:r>
              <a:rPr sz="1700" b="1">
                <a:solidFill>
                  <a:srgbClr val="1C6EA4"/>
                </a:solidFill>
                <a:latin typeface="Calibri"/>
              </a:rPr>
              <a:t>▸  </a:t>
            </a:r>
            <a:r>
              <a:rPr sz="1700">
                <a:solidFill>
                  <a:srgbClr val="444A52"/>
                </a:solidFill>
                <a:latin typeface="Calibri"/>
              </a:rPr>
              <a:t>To'qnashuvga qarshilik (collision resistance) — ikki xil xabar bir xil xesh bermaydi.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5262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>
                <a:solidFill>
                  <a:srgbClr val="0F2C4A"/>
                </a:solidFill>
                <a:latin typeface="Calibri"/>
              </a:rPr>
              <a:t>Qo'llanilishi: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5029200"/>
            <a:ext cx="2514600" cy="1097280"/>
          </a:xfrm>
          <a:prstGeom prst="rect">
            <a:avLst/>
          </a:prstGeom>
          <a:solidFill>
            <a:srgbClr val="E8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31520" y="5029200"/>
            <a:ext cx="2514600" cy="91440"/>
          </a:xfrm>
          <a:prstGeom prst="rect">
            <a:avLst/>
          </a:prstGeom>
          <a:solidFill>
            <a:srgbClr val="1C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5120640"/>
            <a:ext cx="251460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 i="0">
                <a:solidFill>
                  <a:srgbClr val="0F2C4A"/>
                </a:solidFill>
                <a:latin typeface="Calibri"/>
              </a:rPr>
              <a:t>Xabar</a:t>
            </a:r>
          </a:p>
          <a:p>
            <a:pPr algn="ctr"/>
            <a:r>
              <a:rPr sz="1600" b="1" i="0">
                <a:solidFill>
                  <a:srgbClr val="0F2C4A"/>
                </a:solidFill>
                <a:latin typeface="Calibri"/>
              </a:rPr>
              <a:t>yaxlitligi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47288" y="5029200"/>
            <a:ext cx="2514600" cy="1097280"/>
          </a:xfrm>
          <a:prstGeom prst="rect">
            <a:avLst/>
          </a:prstGeom>
          <a:solidFill>
            <a:srgbClr val="E8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447288" y="5029200"/>
            <a:ext cx="2514600" cy="91440"/>
          </a:xfrm>
          <a:prstGeom prst="rect">
            <a:avLst/>
          </a:prstGeom>
          <a:solidFill>
            <a:srgbClr val="1C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47288" y="5120640"/>
            <a:ext cx="251460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 i="0">
                <a:solidFill>
                  <a:srgbClr val="0F2C4A"/>
                </a:solidFill>
                <a:latin typeface="Calibri"/>
              </a:rPr>
              <a:t>Raqamli</a:t>
            </a:r>
          </a:p>
          <a:p>
            <a:pPr algn="ctr"/>
            <a:r>
              <a:rPr sz="1600" b="1" i="0">
                <a:solidFill>
                  <a:srgbClr val="0F2C4A"/>
                </a:solidFill>
                <a:latin typeface="Calibri"/>
              </a:rPr>
              <a:t>imzo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63056" y="5029200"/>
            <a:ext cx="2514600" cy="1097280"/>
          </a:xfrm>
          <a:prstGeom prst="rect">
            <a:avLst/>
          </a:prstGeom>
          <a:solidFill>
            <a:srgbClr val="E8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63056" y="5029200"/>
            <a:ext cx="2514600" cy="91440"/>
          </a:xfrm>
          <a:prstGeom prst="rect">
            <a:avLst/>
          </a:prstGeom>
          <a:solidFill>
            <a:srgbClr val="1C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63056" y="5120640"/>
            <a:ext cx="251460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 i="0">
                <a:solidFill>
                  <a:srgbClr val="0F2C4A"/>
                </a:solidFill>
                <a:latin typeface="Calibri"/>
              </a:rPr>
              <a:t>Parol</a:t>
            </a:r>
          </a:p>
          <a:p>
            <a:pPr algn="ctr"/>
            <a:r>
              <a:rPr sz="1600" b="1" i="0">
                <a:solidFill>
                  <a:srgbClr val="0F2C4A"/>
                </a:solidFill>
                <a:latin typeface="Calibri"/>
              </a:rPr>
              <a:t>saqlash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878824" y="5029200"/>
            <a:ext cx="2514600" cy="1097280"/>
          </a:xfrm>
          <a:prstGeom prst="rect">
            <a:avLst/>
          </a:prstGeom>
          <a:solidFill>
            <a:srgbClr val="E8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878824" y="5029200"/>
            <a:ext cx="2514600" cy="91440"/>
          </a:xfrm>
          <a:prstGeom prst="rect">
            <a:avLst/>
          </a:prstGeom>
          <a:solidFill>
            <a:srgbClr val="1C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878824" y="5120640"/>
            <a:ext cx="251460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 i="0">
                <a:solidFill>
                  <a:srgbClr val="0F2C4A"/>
                </a:solidFill>
                <a:latin typeface="Calibri"/>
              </a:rPr>
              <a:t>Xesh</a:t>
            </a:r>
          </a:p>
          <a:p>
            <a:pPr algn="ctr"/>
            <a:r>
              <a:rPr sz="1600" b="1" i="0">
                <a:solidFill>
                  <a:srgbClr val="0F2C4A"/>
                </a:solidFill>
                <a:latin typeface="Calibri"/>
              </a:rPr>
              <a:t>jadvallar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1C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0"/>
            <a:ext cx="100584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Xesh funksiya konstruksiyalari</a:t>
            </a:r>
          </a:p>
        </p:txBody>
      </p:sp>
      <p:sp>
        <p:nvSpPr>
          <p:cNvPr id="6" name="Rectangle 5"/>
          <p:cNvSpPr/>
          <p:nvPr/>
        </p:nvSpPr>
        <p:spPr>
          <a:xfrm>
            <a:off x="11247120" y="292608"/>
            <a:ext cx="457200" cy="457200"/>
          </a:xfrm>
          <a:prstGeom prst="rect">
            <a:avLst/>
          </a:prstGeom>
          <a:solidFill>
            <a:srgbClr val="1C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47120" y="292608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554480"/>
            <a:ext cx="3520440" cy="4114800"/>
          </a:xfrm>
          <a:prstGeom prst="rect">
            <a:avLst/>
          </a:prstGeom>
          <a:solidFill>
            <a:srgbClr val="E8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554480"/>
            <a:ext cx="3520440" cy="822960"/>
          </a:xfrm>
          <a:prstGeom prst="rect">
            <a:avLst/>
          </a:prstGeom>
          <a:solidFill>
            <a:srgbClr val="1C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554480"/>
            <a:ext cx="324612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Merkle–Damgård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560320"/>
            <a:ext cx="310896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444A52"/>
                </a:solidFill>
                <a:latin typeface="Calibri"/>
              </a:rPr>
              <a:t>Blokma-blok siqish funksiyasi.</a:t>
            </a:r>
          </a:p>
          <a:p>
            <a:pPr algn="l"/>
            <a:r>
              <a:rPr sz="1600" b="0" i="0">
                <a:solidFill>
                  <a:srgbClr val="444A52"/>
                </a:solidFill>
                <a:latin typeface="Calibri"/>
              </a:rPr>
              <a:t>SHA-1, SHA-2, MD5.</a:t>
            </a:r>
          </a:p>
          <a:p>
            <a:pPr algn="l"/>
            <a:r>
              <a:rPr sz="1600" b="0" i="0">
                <a:solidFill>
                  <a:srgbClr val="444A52"/>
                </a:solidFill>
                <a:latin typeface="Calibri"/>
              </a:rPr>
              <a:t>h_i = f(h_{i-1}, m_i)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43983" y="1554480"/>
            <a:ext cx="3520440" cy="4114800"/>
          </a:xfrm>
          <a:prstGeom prst="rect">
            <a:avLst/>
          </a:prstGeom>
          <a:solidFill>
            <a:srgbClr val="E8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43983" y="1554480"/>
            <a:ext cx="3520440" cy="822960"/>
          </a:xfrm>
          <a:prstGeom prst="rect">
            <a:avLst/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81143" y="1554480"/>
            <a:ext cx="324612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Sponge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72583" y="2560320"/>
            <a:ext cx="310896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444A52"/>
                </a:solidFill>
                <a:latin typeface="Calibri"/>
              </a:rPr>
              <a:t>Absorbing + Squeezing.</a:t>
            </a:r>
          </a:p>
          <a:p>
            <a:pPr algn="l"/>
            <a:r>
              <a:rPr sz="1600" b="0" i="0">
                <a:solidFill>
                  <a:srgbClr val="444A52"/>
                </a:solidFill>
                <a:latin typeface="Calibri"/>
              </a:rPr>
              <a:t>SHA-3, Ascon, PHOTON,</a:t>
            </a:r>
          </a:p>
          <a:p>
            <a:pPr algn="l"/>
            <a:r>
              <a:rPr sz="1600" b="0" i="0">
                <a:solidFill>
                  <a:srgbClr val="444A52"/>
                </a:solidFill>
                <a:latin typeface="Calibri"/>
              </a:rPr>
              <a:t>SPONGENT. Moslashuvchan.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56446" y="1554480"/>
            <a:ext cx="3520440" cy="4114800"/>
          </a:xfrm>
          <a:prstGeom prst="rect">
            <a:avLst/>
          </a:prstGeom>
          <a:solidFill>
            <a:srgbClr val="E8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56446" y="1554480"/>
            <a:ext cx="3520440" cy="822960"/>
          </a:xfrm>
          <a:prstGeom prst="rect">
            <a:avLst/>
          </a:prstGeom>
          <a:solidFill>
            <a:srgbClr val="0F2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93606" y="1554480"/>
            <a:ext cx="324612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Blok-shifrga asoslangan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85046" y="2560320"/>
            <a:ext cx="310896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444A52"/>
                </a:solidFill>
                <a:latin typeface="Calibri"/>
              </a:rPr>
              <a:t>Davies-Meyer,</a:t>
            </a:r>
          </a:p>
          <a:p>
            <a:pPr algn="l"/>
            <a:r>
              <a:rPr sz="1600" b="0" i="0">
                <a:solidFill>
                  <a:srgbClr val="444A52"/>
                </a:solidFill>
                <a:latin typeface="Calibri"/>
              </a:rPr>
              <a:t>Matyas-Meyer-Oseas,</a:t>
            </a:r>
          </a:p>
          <a:p>
            <a:pPr algn="l"/>
            <a:r>
              <a:rPr sz="1600" b="0" i="0">
                <a:solidFill>
                  <a:srgbClr val="444A52"/>
                </a:solidFill>
                <a:latin typeface="Calibri"/>
              </a:rPr>
              <a:t>Miyaguchi-Preneel.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94360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 i="0">
                <a:solidFill>
                  <a:srgbClr val="1C6EA4"/>
                </a:solidFill>
                <a:latin typeface="Calibri"/>
              </a:rPr>
              <a:t>Yengil vaznli xesh funksiyalar asosan Sponge konstruksiyasi va yengil blok shifrlar (PRESENT, GIFT, SIMON) ustiga quriladi.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1C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0"/>
            <a:ext cx="100584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II BOB. Yengil vaznli xesh funksiyalar</a:t>
            </a:r>
          </a:p>
        </p:txBody>
      </p:sp>
      <p:sp>
        <p:nvSpPr>
          <p:cNvPr id="6" name="Rectangle 5"/>
          <p:cNvSpPr/>
          <p:nvPr/>
        </p:nvSpPr>
        <p:spPr>
          <a:xfrm>
            <a:off x="11247120" y="292608"/>
            <a:ext cx="457200" cy="457200"/>
          </a:xfrm>
          <a:prstGeom prst="rect">
            <a:avLst/>
          </a:prstGeom>
          <a:solidFill>
            <a:srgbClr val="1C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47120" y="292608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554480"/>
            <a:ext cx="3520440" cy="4297680"/>
          </a:xfrm>
          <a:prstGeom prst="rect">
            <a:avLst/>
          </a:prstGeom>
          <a:solidFill>
            <a:srgbClr val="FFFFFF"/>
          </a:solidFill>
          <a:ln w="12700">
            <a:solidFill>
              <a:srgbClr val="1E8E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554480"/>
            <a:ext cx="3520440" cy="914400"/>
          </a:xfrm>
          <a:prstGeom prst="rect">
            <a:avLst/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554480"/>
            <a:ext cx="333756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900" b="1" i="0">
                <a:solidFill>
                  <a:srgbClr val="FFFFFF"/>
                </a:solidFill>
                <a:latin typeface="Calibri"/>
              </a:rPr>
              <a:t>Ascon-Hash256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697480"/>
            <a:ext cx="3017520" cy="3017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444A52"/>
                </a:solidFill>
                <a:latin typeface="Calibri"/>
              </a:rPr>
              <a:t>NIST LWC standarti (2023)</a:t>
            </a:r>
          </a:p>
          <a:p>
            <a:pPr algn="l"/>
            <a:r>
              <a:rPr sz="1600" b="0" i="0">
                <a:solidFill>
                  <a:srgbClr val="444A52"/>
                </a:solidFill>
                <a:latin typeface="Calibri"/>
              </a:rPr>
              <a:t>256 bit • Sponge • 12 raund</a:t>
            </a:r>
          </a:p>
          <a:p>
            <a:pPr algn="l"/>
            <a:r>
              <a:rPr sz="1600" b="0" i="0">
                <a:solidFill>
                  <a:srgbClr val="444A52"/>
                </a:solidFill>
                <a:latin typeface="Calibri"/>
              </a:rPr>
              <a:t>~2 570 GE • 5-bit S-box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43983" y="1554480"/>
            <a:ext cx="3520440" cy="4297680"/>
          </a:xfrm>
          <a:prstGeom prst="rect">
            <a:avLst/>
          </a:prstGeom>
          <a:solidFill>
            <a:srgbClr val="FFFFFF"/>
          </a:solidFill>
          <a:ln w="12700">
            <a:solidFill>
              <a:srgbClr val="1C6E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43983" y="1554480"/>
            <a:ext cx="3520440" cy="914400"/>
          </a:xfrm>
          <a:prstGeom prst="rect">
            <a:avLst/>
          </a:prstGeom>
          <a:solidFill>
            <a:srgbClr val="1C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35423" y="1554480"/>
            <a:ext cx="333756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900" b="1" i="0">
                <a:solidFill>
                  <a:srgbClr val="FFFFFF"/>
                </a:solidFill>
                <a:latin typeface="Calibri"/>
              </a:rPr>
              <a:t>PHOTON-Beetle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18303" y="2697480"/>
            <a:ext cx="3017520" cy="3017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444A52"/>
                </a:solidFill>
                <a:latin typeface="Calibri"/>
              </a:rPr>
              <a:t>NIST LWC finalisti</a:t>
            </a:r>
          </a:p>
          <a:p>
            <a:pPr algn="l"/>
            <a:r>
              <a:rPr sz="1600" b="0" i="0">
                <a:solidFill>
                  <a:srgbClr val="444A52"/>
                </a:solidFill>
                <a:latin typeface="Calibri"/>
              </a:rPr>
              <a:t>256 bit • Beetle/Sponge</a:t>
            </a:r>
          </a:p>
          <a:p>
            <a:pPr algn="l"/>
            <a:r>
              <a:rPr sz="1600" b="0" i="0">
                <a:solidFill>
                  <a:srgbClr val="444A52"/>
                </a:solidFill>
                <a:latin typeface="Calibri"/>
              </a:rPr>
              <a:t>~3 700 GE • 4-bit S-box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56446" y="1554480"/>
            <a:ext cx="3520440" cy="4297680"/>
          </a:xfrm>
          <a:prstGeom prst="rect">
            <a:avLst/>
          </a:prstGeom>
          <a:solidFill>
            <a:srgbClr val="FFFFFF"/>
          </a:solidFill>
          <a:ln w="12700">
            <a:solidFill>
              <a:srgbClr val="0F2C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56446" y="1554480"/>
            <a:ext cx="3520440" cy="914400"/>
          </a:xfrm>
          <a:prstGeom prst="rect">
            <a:avLst/>
          </a:prstGeom>
          <a:solidFill>
            <a:srgbClr val="0F2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47886" y="1554480"/>
            <a:ext cx="333756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900" b="1" i="0">
                <a:solidFill>
                  <a:srgbClr val="FFFFFF"/>
                </a:solidFill>
                <a:latin typeface="Calibri"/>
              </a:rPr>
              <a:t>SPONGENT-128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30766" y="2697480"/>
            <a:ext cx="3017520" cy="3017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444A52"/>
                </a:solidFill>
                <a:latin typeface="Calibri"/>
              </a:rPr>
              <a:t>ISO/IEC 29192-5</a:t>
            </a:r>
          </a:p>
          <a:p>
            <a:pPr algn="l"/>
            <a:r>
              <a:rPr sz="1600" b="0" i="0">
                <a:solidFill>
                  <a:srgbClr val="444A52"/>
                </a:solidFill>
                <a:latin typeface="Calibri"/>
              </a:rPr>
              <a:t>128 bit • Sponge • 70 raund</a:t>
            </a:r>
          </a:p>
          <a:p>
            <a:pPr algn="l"/>
            <a:r>
              <a:rPr sz="1600" b="0" i="0">
                <a:solidFill>
                  <a:srgbClr val="444A52"/>
                </a:solidFill>
                <a:latin typeface="Calibri"/>
              </a:rPr>
              <a:t>~1 340 GE • eng kichik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603504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 i="1">
                <a:solidFill>
                  <a:srgbClr val="444A52"/>
                </a:solidFill>
                <a:latin typeface="Calibri"/>
              </a:rPr>
              <a:t>Barchasi resurslari cheklangan IoT, RFID va sensorli tarmoqlar uchun mo'ljallangan.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1C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0"/>
            <a:ext cx="100584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Avalanche (ko'chki) effekti tahlili</a:t>
            </a:r>
          </a:p>
        </p:txBody>
      </p:sp>
      <p:sp>
        <p:nvSpPr>
          <p:cNvPr id="6" name="Rectangle 5"/>
          <p:cNvSpPr/>
          <p:nvPr/>
        </p:nvSpPr>
        <p:spPr>
          <a:xfrm>
            <a:off x="11247120" y="292608"/>
            <a:ext cx="457200" cy="457200"/>
          </a:xfrm>
          <a:prstGeom prst="rect">
            <a:avLst/>
          </a:prstGeom>
          <a:solidFill>
            <a:srgbClr val="1C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47120" y="292608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280160"/>
            <a:ext cx="1069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>
                <a:solidFill>
                  <a:srgbClr val="444A52"/>
                </a:solidFill>
                <a:latin typeface="Calibri"/>
              </a:rPr>
              <a:t>Kirishdagi 1 bit o'zgarsa, chiqishning ~50% biti o'zgarishi kerak (ideal = 0.5).</a:t>
            </a:r>
          </a:p>
        </p:txBody>
      </p:sp>
      <p:sp>
        <p:nvSpPr>
          <p:cNvPr id="9" name="Rectangle 8"/>
          <p:cNvSpPr/>
          <p:nvPr/>
        </p:nvSpPr>
        <p:spPr>
          <a:xfrm>
            <a:off x="1371600" y="2011680"/>
            <a:ext cx="3657600" cy="548640"/>
          </a:xfrm>
          <a:prstGeom prst="rect">
            <a:avLst/>
          </a:prstGeom>
          <a:solidFill>
            <a:srgbClr val="0F2C4A"/>
          </a:solidFill>
          <a:ln w="12700">
            <a:solidFill>
              <a:srgbClr val="0F2C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2011680"/>
            <a:ext cx="3657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Xesh funksiya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0" y="2011680"/>
            <a:ext cx="3200400" cy="548640"/>
          </a:xfrm>
          <a:prstGeom prst="rect">
            <a:avLst/>
          </a:prstGeom>
          <a:solidFill>
            <a:srgbClr val="0F2C4A"/>
          </a:solidFill>
          <a:ln w="12700">
            <a:solidFill>
              <a:srgbClr val="0F2C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0" y="2011680"/>
            <a:ext cx="3200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Avalanche nisbati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0" y="2011680"/>
            <a:ext cx="2560320" cy="548640"/>
          </a:xfrm>
          <a:prstGeom prst="rect">
            <a:avLst/>
          </a:prstGeom>
          <a:solidFill>
            <a:srgbClr val="0F2C4A"/>
          </a:solidFill>
          <a:ln w="12700">
            <a:solidFill>
              <a:srgbClr val="0F2C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0" y="2011680"/>
            <a:ext cx="2560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Baho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371600" y="2560320"/>
            <a:ext cx="3657600" cy="548640"/>
          </a:xfrm>
          <a:prstGeom prst="rect">
            <a:avLst/>
          </a:prstGeom>
          <a:solidFill>
            <a:srgbClr val="E8F1F8"/>
          </a:solidFill>
          <a:ln w="12700">
            <a:solidFill>
              <a:srgbClr val="CCD6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71600" y="2560320"/>
            <a:ext cx="3657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0" i="0">
                <a:solidFill>
                  <a:srgbClr val="444A52"/>
                </a:solidFill>
                <a:latin typeface="Calibri"/>
              </a:rPr>
              <a:t>Ascon-Hash256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0" y="2560320"/>
            <a:ext cx="3200400" cy="548640"/>
          </a:xfrm>
          <a:prstGeom prst="rect">
            <a:avLst/>
          </a:prstGeom>
          <a:solidFill>
            <a:srgbClr val="E8F1F8"/>
          </a:solidFill>
          <a:ln w="12700">
            <a:solidFill>
              <a:srgbClr val="CCD6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0" y="2560320"/>
            <a:ext cx="3200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0" i="0">
                <a:solidFill>
                  <a:srgbClr val="444A52"/>
                </a:solidFill>
                <a:latin typeface="Calibri"/>
              </a:rPr>
              <a:t>0.4998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0" y="2560320"/>
            <a:ext cx="2560320" cy="548640"/>
          </a:xfrm>
          <a:prstGeom prst="rect">
            <a:avLst/>
          </a:prstGeom>
          <a:solidFill>
            <a:srgbClr val="E8F1F8"/>
          </a:solidFill>
          <a:ln w="12700">
            <a:solidFill>
              <a:srgbClr val="CCD6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0" y="2560320"/>
            <a:ext cx="2560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0" i="0">
                <a:solidFill>
                  <a:srgbClr val="444A52"/>
                </a:solidFill>
                <a:latin typeface="Calibri"/>
              </a:rPr>
              <a:t>Juda yaxshi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371600" y="3108960"/>
            <a:ext cx="365760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CD6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71600" y="3108960"/>
            <a:ext cx="3657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0" i="0">
                <a:solidFill>
                  <a:srgbClr val="444A52"/>
                </a:solidFill>
                <a:latin typeface="Calibri"/>
              </a:rPr>
              <a:t>PHOTON-Beetle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0" y="3108960"/>
            <a:ext cx="320040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CD6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0" y="3108960"/>
            <a:ext cx="3200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0" i="0">
                <a:solidFill>
                  <a:srgbClr val="444A52"/>
                </a:solidFill>
                <a:latin typeface="Calibri"/>
              </a:rPr>
              <a:t>0.5003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0" y="3108960"/>
            <a:ext cx="256032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CD6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0" y="3108960"/>
            <a:ext cx="2560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0" i="0">
                <a:solidFill>
                  <a:srgbClr val="444A52"/>
                </a:solidFill>
                <a:latin typeface="Calibri"/>
              </a:rPr>
              <a:t>Juda yaxshi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371600" y="3657600"/>
            <a:ext cx="3657600" cy="548640"/>
          </a:xfrm>
          <a:prstGeom prst="rect">
            <a:avLst/>
          </a:prstGeom>
          <a:solidFill>
            <a:srgbClr val="E8F1F8"/>
          </a:solidFill>
          <a:ln w="12700">
            <a:solidFill>
              <a:srgbClr val="CCD6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371600" y="3657600"/>
            <a:ext cx="3657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0" i="0">
                <a:solidFill>
                  <a:srgbClr val="444A52"/>
                </a:solidFill>
                <a:latin typeface="Calibri"/>
              </a:rPr>
              <a:t>SPONGENT-128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0" y="3657600"/>
            <a:ext cx="3200400" cy="548640"/>
          </a:xfrm>
          <a:prstGeom prst="rect">
            <a:avLst/>
          </a:prstGeom>
          <a:solidFill>
            <a:srgbClr val="E8F1F8"/>
          </a:solidFill>
          <a:ln w="12700">
            <a:solidFill>
              <a:srgbClr val="CCD6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29200" y="3657600"/>
            <a:ext cx="3200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0" i="0">
                <a:solidFill>
                  <a:srgbClr val="444A52"/>
                </a:solidFill>
                <a:latin typeface="Calibri"/>
              </a:rPr>
              <a:t>0.4995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0" y="3657600"/>
            <a:ext cx="2560320" cy="548640"/>
          </a:xfrm>
          <a:prstGeom prst="rect">
            <a:avLst/>
          </a:prstGeom>
          <a:solidFill>
            <a:srgbClr val="E8F1F8"/>
          </a:solidFill>
          <a:ln w="12700">
            <a:solidFill>
              <a:srgbClr val="CCD6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29600" y="3657600"/>
            <a:ext cx="2560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0" i="0">
                <a:solidFill>
                  <a:srgbClr val="444A52"/>
                </a:solidFill>
                <a:latin typeface="Calibri"/>
              </a:rPr>
              <a:t>Juda yaxshi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371600" y="4206240"/>
            <a:ext cx="365760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CD6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371600" y="4206240"/>
            <a:ext cx="3657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0" i="0">
                <a:solidFill>
                  <a:srgbClr val="444A52"/>
                </a:solidFill>
                <a:latin typeface="Calibri"/>
              </a:rPr>
              <a:t>SHA-256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29200" y="4206240"/>
            <a:ext cx="320040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CD6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0" y="4206240"/>
            <a:ext cx="3200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0" i="0">
                <a:solidFill>
                  <a:srgbClr val="444A52"/>
                </a:solidFill>
                <a:latin typeface="Calibri"/>
              </a:rPr>
              <a:t>0.5001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229600" y="4206240"/>
            <a:ext cx="256032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CD6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229600" y="4206240"/>
            <a:ext cx="2560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0" i="0">
                <a:solidFill>
                  <a:srgbClr val="444A52"/>
                </a:solidFill>
                <a:latin typeface="Calibri"/>
              </a:rPr>
              <a:t>Juda yaxshi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371600" y="4754880"/>
            <a:ext cx="3657600" cy="548640"/>
          </a:xfrm>
          <a:prstGeom prst="rect">
            <a:avLst/>
          </a:prstGeom>
          <a:solidFill>
            <a:srgbClr val="E8F1F8"/>
          </a:solidFill>
          <a:ln w="12700">
            <a:solidFill>
              <a:srgbClr val="CCD6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371600" y="4754880"/>
            <a:ext cx="3657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0" i="0">
                <a:solidFill>
                  <a:srgbClr val="444A52"/>
                </a:solidFill>
                <a:latin typeface="Calibri"/>
              </a:rPr>
              <a:t>SHA-3-256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29200" y="4754880"/>
            <a:ext cx="3200400" cy="548640"/>
          </a:xfrm>
          <a:prstGeom prst="rect">
            <a:avLst/>
          </a:prstGeom>
          <a:solidFill>
            <a:srgbClr val="E8F1F8"/>
          </a:solidFill>
          <a:ln w="12700">
            <a:solidFill>
              <a:srgbClr val="CCD6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029200" y="4754880"/>
            <a:ext cx="3200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0" i="0">
                <a:solidFill>
                  <a:srgbClr val="444A52"/>
                </a:solidFill>
                <a:latin typeface="Calibri"/>
              </a:rPr>
              <a:t>0.4999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229600" y="4754880"/>
            <a:ext cx="2560320" cy="548640"/>
          </a:xfrm>
          <a:prstGeom prst="rect">
            <a:avLst/>
          </a:prstGeom>
          <a:solidFill>
            <a:srgbClr val="E8F1F8"/>
          </a:solidFill>
          <a:ln w="12700">
            <a:solidFill>
              <a:srgbClr val="CCD6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229600" y="4754880"/>
            <a:ext cx="2560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0" i="0">
                <a:solidFill>
                  <a:srgbClr val="444A52"/>
                </a:solidFill>
                <a:latin typeface="Calibri"/>
              </a:rPr>
              <a:t>Juda yaxshi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0" y="5303520"/>
            <a:ext cx="365760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CD6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371600" y="5303520"/>
            <a:ext cx="3657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0" i="0">
                <a:solidFill>
                  <a:srgbClr val="444A52"/>
                </a:solidFill>
                <a:latin typeface="Calibri"/>
              </a:rPr>
              <a:t>BLAKE2s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029200" y="5303520"/>
            <a:ext cx="320040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CD6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029200" y="5303520"/>
            <a:ext cx="3200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0" i="0">
                <a:solidFill>
                  <a:srgbClr val="444A52"/>
                </a:solidFill>
                <a:latin typeface="Calibri"/>
              </a:rPr>
              <a:t>0.5002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229600" y="5303520"/>
            <a:ext cx="256032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CD6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229600" y="5303520"/>
            <a:ext cx="2560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0" i="0">
                <a:solidFill>
                  <a:srgbClr val="444A52"/>
                </a:solidFill>
                <a:latin typeface="Calibri"/>
              </a:rPr>
              <a:t>Juda yaxshi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31520" y="608076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 i="0">
                <a:solidFill>
                  <a:srgbClr val="1E8E5A"/>
                </a:solidFill>
                <a:latin typeface="Calibri"/>
              </a:rPr>
              <a:t>Natija: barcha algoritmlar ideal avalanche qiymatiga juda yaqin — kriptografik mustahkamligi yuqori.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1C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0"/>
            <a:ext cx="100584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Tezlik va apparat resurslari tahlili</a:t>
            </a:r>
          </a:p>
        </p:txBody>
      </p:sp>
      <p:sp>
        <p:nvSpPr>
          <p:cNvPr id="6" name="Rectangle 5"/>
          <p:cNvSpPr/>
          <p:nvPr/>
        </p:nvSpPr>
        <p:spPr>
          <a:xfrm>
            <a:off x="11247120" y="292608"/>
            <a:ext cx="457200" cy="457200"/>
          </a:xfrm>
          <a:prstGeom prst="rect">
            <a:avLst/>
          </a:prstGeom>
          <a:solidFill>
            <a:srgbClr val="1C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47120" y="292608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234440"/>
            <a:ext cx="5486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>
                <a:solidFill>
                  <a:srgbClr val="0F2C4A"/>
                </a:solidFill>
                <a:latin typeface="Calibri"/>
              </a:rPr>
              <a:t>Dasturiy tezlik (MB/s)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828800"/>
            <a:ext cx="1371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444A52"/>
                </a:solidFill>
                <a:latin typeface="Calibri"/>
              </a:rPr>
              <a:t>BLAKE2s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194560" y="1856232"/>
            <a:ext cx="4389120" cy="274320"/>
          </a:xfrm>
          <a:prstGeom prst="rect">
            <a:avLst/>
          </a:prstGeom>
          <a:solidFill>
            <a:srgbClr val="444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23680" y="1828800"/>
            <a:ext cx="109728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444A52"/>
                </a:solidFill>
                <a:latin typeface="Calibri"/>
              </a:rPr>
              <a:t>180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286000"/>
            <a:ext cx="1371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444A52"/>
                </a:solidFill>
                <a:latin typeface="Calibri"/>
              </a:rPr>
              <a:t>SHA-256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194560" y="2313432"/>
            <a:ext cx="3657600" cy="274320"/>
          </a:xfrm>
          <a:prstGeom prst="rect">
            <a:avLst/>
          </a:prstGeom>
          <a:solidFill>
            <a:srgbClr val="444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92160" y="2286000"/>
            <a:ext cx="109728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444A52"/>
                </a:solidFill>
                <a:latin typeface="Calibri"/>
              </a:rPr>
              <a:t>150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2743200"/>
            <a:ext cx="1371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444A52"/>
                </a:solidFill>
                <a:latin typeface="Calibri"/>
              </a:rPr>
              <a:t>SHA-3-256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194560" y="2770632"/>
            <a:ext cx="2926080" cy="274320"/>
          </a:xfrm>
          <a:prstGeom prst="rect">
            <a:avLst/>
          </a:prstGeom>
          <a:solidFill>
            <a:srgbClr val="444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60640" y="2743200"/>
            <a:ext cx="109728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444A52"/>
                </a:solidFill>
                <a:latin typeface="Calibri"/>
              </a:rPr>
              <a:t>120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3200400"/>
            <a:ext cx="1371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444A52"/>
                </a:solidFill>
                <a:latin typeface="Calibri"/>
              </a:rPr>
              <a:t>Ascon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194560" y="3227832"/>
            <a:ext cx="60960" cy="274320"/>
          </a:xfrm>
          <a:prstGeom prst="rect">
            <a:avLst/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295520" y="3200400"/>
            <a:ext cx="109728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444A52"/>
                </a:solidFill>
                <a:latin typeface="Calibri"/>
              </a:rPr>
              <a:t>2.5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3657600"/>
            <a:ext cx="1371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444A52"/>
                </a:solidFill>
                <a:latin typeface="Calibri"/>
              </a:rPr>
              <a:t>PHOTON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194560" y="3685032"/>
            <a:ext cx="60000" cy="274320"/>
          </a:xfrm>
          <a:prstGeom prst="rect">
            <a:avLst/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294560" y="3657600"/>
            <a:ext cx="109728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444A52"/>
                </a:solidFill>
                <a:latin typeface="Calibri"/>
              </a:rPr>
              <a:t>0.03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4114800"/>
            <a:ext cx="1371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444A52"/>
                </a:solidFill>
                <a:latin typeface="Calibri"/>
              </a:rPr>
              <a:t>SPONGENT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194560" y="4142232"/>
            <a:ext cx="60000" cy="274320"/>
          </a:xfrm>
          <a:prstGeom prst="rect">
            <a:avLst/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294560" y="4114800"/>
            <a:ext cx="109728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444A52"/>
                </a:solidFill>
                <a:latin typeface="Calibri"/>
              </a:rPr>
              <a:t>0.01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0" y="123444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>
                <a:solidFill>
                  <a:srgbClr val="0F2C4A"/>
                </a:solidFill>
                <a:latin typeface="Calibri"/>
              </a:rPr>
              <a:t>Gate ekvivalenti (GE)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0" y="1828800"/>
            <a:ext cx="109728" cy="365760"/>
          </a:xfrm>
          <a:prstGeom prst="rect">
            <a:avLst/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12280" y="1828800"/>
            <a:ext cx="256032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 i="0">
                <a:solidFill>
                  <a:srgbClr val="444A52"/>
                </a:solidFill>
                <a:latin typeface="Calibri"/>
              </a:rPr>
              <a:t>SPONGENT-128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1828800"/>
            <a:ext cx="20116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 i="0">
                <a:solidFill>
                  <a:srgbClr val="1E8E5A"/>
                </a:solidFill>
                <a:latin typeface="Calibri"/>
              </a:rPr>
              <a:t>~1 340 GE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83680" y="2286000"/>
            <a:ext cx="109728" cy="365760"/>
          </a:xfrm>
          <a:prstGeom prst="rect">
            <a:avLst/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12280" y="2286000"/>
            <a:ext cx="256032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 i="0">
                <a:solidFill>
                  <a:srgbClr val="444A52"/>
                </a:solidFill>
                <a:latin typeface="Calibri"/>
              </a:rPr>
              <a:t>Ascon-Hash256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18320" y="2286000"/>
            <a:ext cx="20116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 i="0">
                <a:solidFill>
                  <a:srgbClr val="1E8E5A"/>
                </a:solidFill>
                <a:latin typeface="Calibri"/>
              </a:rPr>
              <a:t>~2 570 GE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583680" y="2743200"/>
            <a:ext cx="109728" cy="365760"/>
          </a:xfrm>
          <a:prstGeom prst="rect">
            <a:avLst/>
          </a:prstGeom>
          <a:solidFill>
            <a:srgbClr val="1C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12280" y="2743200"/>
            <a:ext cx="256032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 i="0">
                <a:solidFill>
                  <a:srgbClr val="444A52"/>
                </a:solidFill>
                <a:latin typeface="Calibri"/>
              </a:rPr>
              <a:t>PHOTON-Beetle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18320" y="2743200"/>
            <a:ext cx="20116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 i="0">
                <a:solidFill>
                  <a:srgbClr val="1C6EA4"/>
                </a:solidFill>
                <a:latin typeface="Calibri"/>
              </a:rPr>
              <a:t>~3 700 GE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83680" y="3200400"/>
            <a:ext cx="109728" cy="365760"/>
          </a:xfrm>
          <a:prstGeom prst="rect">
            <a:avLst/>
          </a:prstGeom>
          <a:solidFill>
            <a:srgbClr val="444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812280" y="3200400"/>
            <a:ext cx="256032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 i="0">
                <a:solidFill>
                  <a:srgbClr val="444A52"/>
                </a:solidFill>
                <a:latin typeface="Calibri"/>
              </a:rPr>
              <a:t>BLAKE2s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418320" y="3200400"/>
            <a:ext cx="20116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 i="0">
                <a:solidFill>
                  <a:srgbClr val="444A52"/>
                </a:solidFill>
                <a:latin typeface="Calibri"/>
              </a:rPr>
              <a:t>~8 000 GE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583680" y="3657600"/>
            <a:ext cx="109728" cy="365760"/>
          </a:xfrm>
          <a:prstGeom prst="rect">
            <a:avLst/>
          </a:prstGeom>
          <a:solidFill>
            <a:srgbClr val="444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812280" y="3657600"/>
            <a:ext cx="256032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 i="0">
                <a:solidFill>
                  <a:srgbClr val="444A52"/>
                </a:solidFill>
                <a:latin typeface="Calibri"/>
              </a:rPr>
              <a:t>SHA-256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418320" y="3657600"/>
            <a:ext cx="20116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 i="0">
                <a:solidFill>
                  <a:srgbClr val="444A52"/>
                </a:solidFill>
                <a:latin typeface="Calibri"/>
              </a:rPr>
              <a:t>~10 000+ GE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583680" y="4114800"/>
            <a:ext cx="109728" cy="365760"/>
          </a:xfrm>
          <a:prstGeom prst="rect">
            <a:avLst/>
          </a:prstGeom>
          <a:solidFill>
            <a:srgbClr val="444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812280" y="4114800"/>
            <a:ext cx="256032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 i="0">
                <a:solidFill>
                  <a:srgbClr val="444A52"/>
                </a:solidFill>
                <a:latin typeface="Calibri"/>
              </a:rPr>
              <a:t>SHA-3-256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18320" y="4114800"/>
            <a:ext cx="20116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 i="0">
                <a:solidFill>
                  <a:srgbClr val="444A52"/>
                </a:solidFill>
                <a:latin typeface="Calibri"/>
              </a:rPr>
              <a:t>~12 000+ GE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31520" y="5120640"/>
            <a:ext cx="10698480" cy="1097280"/>
          </a:xfrm>
          <a:prstGeom prst="rect">
            <a:avLst/>
          </a:prstGeom>
          <a:solidFill>
            <a:srgbClr val="E8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31520" y="5120640"/>
            <a:ext cx="109728" cy="1097280"/>
          </a:xfrm>
          <a:prstGeom prst="rect">
            <a:avLst/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05840" y="5230368"/>
            <a:ext cx="101498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 i="0">
                <a:solidFill>
                  <a:srgbClr val="444A52"/>
                </a:solidFill>
                <a:latin typeface="Calibri"/>
              </a:rPr>
              <a:t>Kelishuv (trade-off):  Yengil vaznli funksiyalar tezlikda yutqazadi, lekin apparat resurslarida (GE, energiya) sezilarli yutadi — bu IoT qurilmalari uchun hal qiluvchi.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1C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0"/>
            <a:ext cx="100584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Ishlab chiqilgan dasturiy ta'minot</a:t>
            </a:r>
          </a:p>
        </p:txBody>
      </p:sp>
      <p:sp>
        <p:nvSpPr>
          <p:cNvPr id="6" name="Rectangle 5"/>
          <p:cNvSpPr/>
          <p:nvPr/>
        </p:nvSpPr>
        <p:spPr>
          <a:xfrm>
            <a:off x="11247120" y="292608"/>
            <a:ext cx="457200" cy="457200"/>
          </a:xfrm>
          <a:prstGeom prst="rect">
            <a:avLst/>
          </a:prstGeom>
          <a:solidFill>
            <a:srgbClr val="1C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47120" y="292608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2588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>
                <a:solidFill>
                  <a:srgbClr val="0F2C4A"/>
                </a:solidFill>
                <a:latin typeface="Calibri"/>
              </a:rPr>
              <a:t>Xesh funksiyalarni solishtirma tahlil qiluvchi dasturiy vosita ishlab chiqildi: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011680"/>
            <a:ext cx="106984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300"/>
              </a:spcAft>
            </a:pPr>
            <a:r>
              <a:rPr sz="1800" b="1">
                <a:solidFill>
                  <a:srgbClr val="1C6EA4"/>
                </a:solidFill>
                <a:latin typeface="Calibri"/>
              </a:rPr>
              <a:t>▸  </a:t>
            </a:r>
            <a:r>
              <a:rPr sz="1800">
                <a:solidFill>
                  <a:srgbClr val="444A52"/>
                </a:solidFill>
                <a:latin typeface="Calibri"/>
              </a:rPr>
              <a:t>Turli xesh funksiyalar uchun digest hisoblash moduli;</a:t>
            </a:r>
          </a:p>
          <a:p>
            <a:pPr algn="l">
              <a:spcAft>
                <a:spcPts val="1300"/>
              </a:spcAft>
            </a:pPr>
            <a:r>
              <a:rPr sz="1800" b="1">
                <a:solidFill>
                  <a:srgbClr val="1C6EA4"/>
                </a:solidFill>
                <a:latin typeface="Calibri"/>
              </a:rPr>
              <a:t>▸  </a:t>
            </a:r>
            <a:r>
              <a:rPr sz="1800">
                <a:solidFill>
                  <a:srgbClr val="444A52"/>
                </a:solidFill>
                <a:latin typeface="Calibri"/>
              </a:rPr>
              <a:t>Avalanche effektini o'lchash va vizualizatsiya qilish;</a:t>
            </a:r>
          </a:p>
          <a:p>
            <a:pPr algn="l">
              <a:spcAft>
                <a:spcPts val="1300"/>
              </a:spcAft>
            </a:pPr>
            <a:r>
              <a:rPr sz="1800" b="1">
                <a:solidFill>
                  <a:srgbClr val="1C6EA4"/>
                </a:solidFill>
                <a:latin typeface="Calibri"/>
              </a:rPr>
              <a:t>▸  </a:t>
            </a:r>
            <a:r>
              <a:rPr sz="1800">
                <a:solidFill>
                  <a:srgbClr val="444A52"/>
                </a:solidFill>
                <a:latin typeface="Calibri"/>
              </a:rPr>
              <a:t>Tezlik (MB/s) va bir amal vaqtini o'lchash;</a:t>
            </a:r>
          </a:p>
          <a:p>
            <a:pPr algn="l">
              <a:spcAft>
                <a:spcPts val="1300"/>
              </a:spcAft>
            </a:pPr>
            <a:r>
              <a:rPr sz="1800" b="1">
                <a:solidFill>
                  <a:srgbClr val="1C6EA4"/>
                </a:solidFill>
                <a:latin typeface="Calibri"/>
              </a:rPr>
              <a:t>▸  </a:t>
            </a:r>
            <a:r>
              <a:rPr sz="1800">
                <a:solidFill>
                  <a:srgbClr val="444A52"/>
                </a:solidFill>
                <a:latin typeface="Calibri"/>
              </a:rPr>
              <a:t>Solishtirma diagrammalar va jadvallar generatsiyasi.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38912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>
                <a:solidFill>
                  <a:srgbClr val="0F2C4A"/>
                </a:solidFill>
                <a:latin typeface="Calibri"/>
              </a:rPr>
              <a:t>Yakuniy baholash: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4937760"/>
            <a:ext cx="35204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1E8E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5074920"/>
            <a:ext cx="3520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 i="0">
                <a:solidFill>
                  <a:srgbClr val="0F2C4A"/>
                </a:solidFill>
                <a:latin typeface="Calibri"/>
              </a:rPr>
              <a:t>Ascon-Hash256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486400"/>
            <a:ext cx="35204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>
                <a:solidFill>
                  <a:srgbClr val="1E8E5A"/>
                </a:solidFill>
                <a:latin typeface="Calibri"/>
              </a:rPr>
              <a:t>5/5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43983" y="4937760"/>
            <a:ext cx="35204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1C6E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43983" y="5074920"/>
            <a:ext cx="3520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 i="0">
                <a:solidFill>
                  <a:srgbClr val="0F2C4A"/>
                </a:solidFill>
                <a:latin typeface="Calibri"/>
              </a:rPr>
              <a:t>PHOTON-Beetle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43983" y="5486400"/>
            <a:ext cx="35204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>
                <a:solidFill>
                  <a:srgbClr val="1C6EA4"/>
                </a:solidFill>
                <a:latin typeface="Calibri"/>
              </a:rPr>
              <a:t>4/5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56446" y="4937760"/>
            <a:ext cx="35204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1C6E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56446" y="5074920"/>
            <a:ext cx="3520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 i="0">
                <a:solidFill>
                  <a:srgbClr val="0F2C4A"/>
                </a:solidFill>
                <a:latin typeface="Calibri"/>
              </a:rPr>
              <a:t>SPONGENT-128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56446" y="5486400"/>
            <a:ext cx="35204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>
                <a:solidFill>
                  <a:srgbClr val="1C6EA4"/>
                </a:solidFill>
                <a:latin typeface="Calibri"/>
              </a:rPr>
              <a:t>4/5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1C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0"/>
            <a:ext cx="100584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Xulosa</a:t>
            </a:r>
          </a:p>
        </p:txBody>
      </p:sp>
      <p:sp>
        <p:nvSpPr>
          <p:cNvPr id="6" name="Rectangle 5"/>
          <p:cNvSpPr/>
          <p:nvPr/>
        </p:nvSpPr>
        <p:spPr>
          <a:xfrm>
            <a:off x="11247120" y="292608"/>
            <a:ext cx="457200" cy="457200"/>
          </a:xfrm>
          <a:prstGeom prst="rect">
            <a:avLst/>
          </a:prstGeom>
          <a:solidFill>
            <a:srgbClr val="1C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47120" y="292608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4630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600"/>
              </a:spcAft>
            </a:pPr>
            <a:r>
              <a:rPr sz="1900" b="1">
                <a:solidFill>
                  <a:srgbClr val="1C6EA4"/>
                </a:solidFill>
                <a:latin typeface="Calibri"/>
              </a:rPr>
              <a:t>▸  </a:t>
            </a:r>
            <a:r>
              <a:rPr sz="1900">
                <a:solidFill>
                  <a:srgbClr val="444A52"/>
                </a:solidFill>
                <a:latin typeface="Calibri"/>
              </a:rPr>
              <a:t>Kriptografik himoya va ma'lumot butunligini ta'minlash usullari o'rganildi;</a:t>
            </a:r>
          </a:p>
          <a:p>
            <a:pPr algn="l">
              <a:spcAft>
                <a:spcPts val="1600"/>
              </a:spcAft>
            </a:pPr>
            <a:r>
              <a:rPr sz="1900" b="1">
                <a:solidFill>
                  <a:srgbClr val="1C6EA4"/>
                </a:solidFill>
                <a:latin typeface="Calibri"/>
              </a:rPr>
              <a:t>▸  </a:t>
            </a:r>
            <a:r>
              <a:rPr sz="1900">
                <a:solidFill>
                  <a:srgbClr val="444A52"/>
                </a:solidFill>
                <a:latin typeface="Calibri"/>
              </a:rPr>
              <a:t>An'anaviy va yengil vaznli xesh funksiyalar tasnifi tahlil qilindi;</a:t>
            </a:r>
          </a:p>
          <a:p>
            <a:pPr algn="l">
              <a:spcAft>
                <a:spcPts val="1600"/>
              </a:spcAft>
            </a:pPr>
            <a:r>
              <a:rPr sz="1900" b="1">
                <a:solidFill>
                  <a:srgbClr val="1C6EA4"/>
                </a:solidFill>
                <a:latin typeface="Calibri"/>
              </a:rPr>
              <a:t>▸  </a:t>
            </a:r>
            <a:r>
              <a:rPr sz="1900">
                <a:solidFill>
                  <a:srgbClr val="444A52"/>
                </a:solidFill>
                <a:latin typeface="Calibri"/>
              </a:rPr>
              <a:t>Ascon, PHOTON, SPONGENT algoritmlari batafsil ko'rib chiqildi;</a:t>
            </a:r>
          </a:p>
          <a:p>
            <a:pPr algn="l">
              <a:spcAft>
                <a:spcPts val="1600"/>
              </a:spcAft>
            </a:pPr>
            <a:r>
              <a:rPr sz="1900" b="1">
                <a:solidFill>
                  <a:srgbClr val="1C6EA4"/>
                </a:solidFill>
                <a:latin typeface="Calibri"/>
              </a:rPr>
              <a:t>▸  </a:t>
            </a:r>
            <a:r>
              <a:rPr sz="1900">
                <a:solidFill>
                  <a:srgbClr val="444A52"/>
                </a:solidFill>
                <a:latin typeface="Calibri"/>
              </a:rPr>
              <a:t>Avalanche, tezlik va resurs sarfi bo'yicha solishtirma tahlil o'tkazildi;</a:t>
            </a:r>
          </a:p>
          <a:p>
            <a:pPr algn="l">
              <a:spcAft>
                <a:spcPts val="1600"/>
              </a:spcAft>
            </a:pPr>
            <a:r>
              <a:rPr sz="1900" b="1">
                <a:solidFill>
                  <a:srgbClr val="1C6EA4"/>
                </a:solidFill>
                <a:latin typeface="Calibri"/>
              </a:rPr>
              <a:t>▸  </a:t>
            </a:r>
            <a:r>
              <a:rPr sz="1900">
                <a:solidFill>
                  <a:srgbClr val="444A52"/>
                </a:solidFill>
                <a:latin typeface="Calibri"/>
              </a:rPr>
              <a:t>Solishtirma dasturiy ta'minot ishlab chiqildi.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5029200"/>
            <a:ext cx="10698480" cy="1188720"/>
          </a:xfrm>
          <a:prstGeom prst="rect">
            <a:avLst/>
          </a:prstGeom>
          <a:solidFill>
            <a:srgbClr val="0F2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5138928"/>
            <a:ext cx="1014984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Asosiy xulosa:  Ascon-Hash256 — kriptografik mustahkamlik, apparat samaradorligi va IoT mosligi bo'yicha eng optimal yechim (5/5).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1371600"/>
          </a:xfrm>
          <a:prstGeom prst="rect">
            <a:avLst/>
          </a:prstGeom>
          <a:solidFill>
            <a:srgbClr val="1C6E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2743200"/>
            <a:ext cx="12191695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E'tiboringiz uchun rahmat!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4572000"/>
            <a:ext cx="1219169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0">
                <a:solidFill>
                  <a:srgbClr val="E8F1F8"/>
                </a:solidFill>
                <a:latin typeface="Calibri"/>
              </a:rPr>
              <a:t>Savollaringizga javob berishga tayyorman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5760720"/>
            <a:ext cx="1219169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0" i="0">
                <a:solidFill>
                  <a:srgbClr val="AEC8DD"/>
                </a:solidFill>
                <a:latin typeface="Calibri"/>
              </a:rPr>
              <a:t>Axmadxo'jayev Abbosxon  •  Toshkent –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