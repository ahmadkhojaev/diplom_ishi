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60" r:id="rId4"/>
    <p:sldId id="261" r:id="rId5"/>
    <p:sldId id="259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629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1C6E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C6E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>
                <a:solidFill>
                  <a:srgbClr val="E8F1F8"/>
                </a:solidFill>
                <a:latin typeface="Calibri"/>
              </a:rPr>
              <a:t>MUHAMMAD AL-XORAZMIY NOMIDAGI TOSHKENT AXBOROT</a:t>
            </a:r>
          </a:p>
          <a:p>
            <a:pPr algn="ctr"/>
            <a:r>
              <a:rPr sz="1400" b="1" i="0">
                <a:solidFill>
                  <a:srgbClr val="E8F1F8"/>
                </a:solidFill>
                <a:latin typeface="Calibri"/>
              </a:rPr>
              <a:t>TEXNOLOGIYALARI UNIVERSITETI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698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 i="0">
                <a:solidFill>
                  <a:srgbClr val="AEC8DD"/>
                </a:solidFill>
                <a:latin typeface="Calibri"/>
              </a:rPr>
              <a:t>Kiberxavfsizlik fakulteti  •  Kriptologiya kafedrasi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2331720"/>
            <a:ext cx="9418320" cy="54864"/>
          </a:xfrm>
          <a:prstGeom prst="rect">
            <a:avLst/>
          </a:prstGeom>
          <a:solidFill>
            <a:srgbClr val="1C6E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874519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DIPLOM LOYIHASI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651760"/>
            <a:ext cx="1033272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Calibri"/>
              </a:rPr>
              <a:t>Yengil vaznli kriptografik xesh</a:t>
            </a:r>
          </a:p>
          <a:p>
            <a:pPr algn="ctr"/>
            <a:r>
              <a:rPr sz="3600" b="1" i="0">
                <a:solidFill>
                  <a:srgbClr val="FFFFFF"/>
                </a:solidFill>
                <a:latin typeface="Calibri"/>
              </a:rPr>
              <a:t>funksiyalarning tahlili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71600" y="4297680"/>
            <a:ext cx="9418320" cy="54864"/>
          </a:xfrm>
          <a:prstGeom prst="rect">
            <a:avLst/>
          </a:prstGeom>
          <a:solidFill>
            <a:srgbClr val="1C6E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4709160"/>
            <a:ext cx="10698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0" i="0">
                <a:solidFill>
                  <a:srgbClr val="E8F1F8"/>
                </a:solidFill>
                <a:latin typeface="Calibri"/>
              </a:rPr>
              <a:t>Bajardi:  Axmadxo'jayev Abbosxon Akmalxon o'g'li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212080"/>
            <a:ext cx="10698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 i="0">
                <a:solidFill>
                  <a:srgbClr val="AEC8DD"/>
                </a:solidFill>
                <a:latin typeface="Calibri"/>
              </a:rPr>
              <a:t>Ilmiy rahbar:  Olimov I.S.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943600"/>
            <a:ext cx="10698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Toshkent –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1C6E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0"/>
            <a:ext cx="1005840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Mavzuning dolzarbligi</a:t>
            </a:r>
          </a:p>
        </p:txBody>
      </p:sp>
      <p:sp>
        <p:nvSpPr>
          <p:cNvPr id="6" name="Rectangle 5"/>
          <p:cNvSpPr/>
          <p:nvPr/>
        </p:nvSpPr>
        <p:spPr>
          <a:xfrm>
            <a:off x="11247120" y="292608"/>
            <a:ext cx="457200" cy="457200"/>
          </a:xfrm>
          <a:prstGeom prst="rect">
            <a:avLst/>
          </a:prstGeom>
          <a:solidFill>
            <a:srgbClr val="1C6E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247120" y="351931"/>
            <a:ext cx="45720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/>
              </a:rPr>
              <a:t>2</a:t>
            </a:r>
            <a:endParaRPr sz="16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106984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1800" b="1">
                <a:solidFill>
                  <a:srgbClr val="1C6EA4"/>
                </a:solidFill>
                <a:latin typeface="Calibri"/>
              </a:rPr>
              <a:t>▸  </a:t>
            </a:r>
            <a:r>
              <a:rPr sz="1800">
                <a:solidFill>
                  <a:srgbClr val="444A52"/>
                </a:solidFill>
                <a:latin typeface="Calibri"/>
              </a:rPr>
              <a:t>IoT (Narsalar interneti) qurilmalari soni keskin o'smoqda — milliardlab sensor va RFID teglar.</a:t>
            </a:r>
          </a:p>
          <a:p>
            <a:pPr algn="l">
              <a:spcAft>
                <a:spcPts val="1400"/>
              </a:spcAft>
            </a:pPr>
            <a:r>
              <a:rPr sz="1800" b="1">
                <a:solidFill>
                  <a:srgbClr val="1C6EA4"/>
                </a:solidFill>
                <a:latin typeface="Calibri"/>
              </a:rPr>
              <a:t>▸  </a:t>
            </a:r>
            <a:r>
              <a:rPr sz="1800">
                <a:solidFill>
                  <a:srgbClr val="444A52"/>
                </a:solidFill>
                <a:latin typeface="Calibri"/>
              </a:rPr>
              <a:t>Bunday qurilmalar resurslari cheklangan: kam quvvat, kichik xotira, past hisoblash imkoniyati.</a:t>
            </a:r>
          </a:p>
          <a:p>
            <a:pPr algn="l">
              <a:spcAft>
                <a:spcPts val="1400"/>
              </a:spcAft>
            </a:pPr>
            <a:r>
              <a:rPr sz="1800" b="1">
                <a:solidFill>
                  <a:srgbClr val="1C6EA4"/>
                </a:solidFill>
                <a:latin typeface="Calibri"/>
              </a:rPr>
              <a:t>▸  </a:t>
            </a:r>
            <a:r>
              <a:rPr sz="1800">
                <a:solidFill>
                  <a:srgbClr val="444A52"/>
                </a:solidFill>
                <a:latin typeface="Calibri"/>
              </a:rPr>
              <a:t>An'anaviy xesh funksiyalar (SHA-256, SHA-3) bunday qurilmalar uchun og'irlik qiladi.</a:t>
            </a:r>
          </a:p>
          <a:p>
            <a:pPr algn="l">
              <a:spcAft>
                <a:spcPts val="1400"/>
              </a:spcAft>
            </a:pPr>
            <a:r>
              <a:rPr sz="1800" b="1">
                <a:solidFill>
                  <a:srgbClr val="1C6EA4"/>
                </a:solidFill>
                <a:latin typeface="Calibri"/>
              </a:rPr>
              <a:t>▸  </a:t>
            </a:r>
            <a:r>
              <a:rPr sz="1800">
                <a:solidFill>
                  <a:srgbClr val="444A52"/>
                </a:solidFill>
                <a:latin typeface="Calibri"/>
              </a:rPr>
              <a:t>Yengil vaznli (lightweight) kriptografiya — zamonaviy axborot xavfsizligining ustuvor yo'nalishi.</a:t>
            </a:r>
          </a:p>
          <a:p>
            <a:pPr algn="l">
              <a:spcAft>
                <a:spcPts val="1400"/>
              </a:spcAft>
            </a:pPr>
            <a:r>
              <a:rPr sz="1800" b="1">
                <a:solidFill>
                  <a:srgbClr val="1C6EA4"/>
                </a:solidFill>
                <a:latin typeface="Calibri"/>
              </a:rPr>
              <a:t>▸  </a:t>
            </a:r>
            <a:r>
              <a:rPr sz="1800">
                <a:solidFill>
                  <a:srgbClr val="444A52"/>
                </a:solidFill>
                <a:latin typeface="Calibri"/>
              </a:rPr>
              <a:t>NIST 2023-yilda Ascon algoritmini yengil vaznli kriptografiya standarti sifatida tanladi.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4754880"/>
            <a:ext cx="10698480" cy="1463040"/>
          </a:xfrm>
          <a:prstGeom prst="rect">
            <a:avLst/>
          </a:prstGeom>
          <a:solidFill>
            <a:srgbClr val="E8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31520" y="4754880"/>
            <a:ext cx="109728" cy="1463040"/>
          </a:xfrm>
          <a:prstGeom prst="rect">
            <a:avLst/>
          </a:prstGeom>
          <a:solidFill>
            <a:srgbClr val="1C6E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4892040"/>
            <a:ext cx="101498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444A52"/>
                </a:solidFill>
                <a:latin typeface="Calibri"/>
              </a:rPr>
              <a:t>Normativ asos:</a:t>
            </a:r>
          </a:p>
          <a:p>
            <a:pPr algn="l"/>
            <a:r>
              <a:rPr sz="1500" b="0" i="0">
                <a:solidFill>
                  <a:srgbClr val="444A52"/>
                </a:solidFill>
                <a:latin typeface="Calibri"/>
              </a:rPr>
              <a:t>• O'zbekiston-2030 strategiyasi (PF-158, 2023)</a:t>
            </a:r>
          </a:p>
          <a:p>
            <a:pPr algn="l"/>
            <a:r>
              <a:rPr sz="1500" b="0" i="0">
                <a:solidFill>
                  <a:srgbClr val="444A52"/>
                </a:solidFill>
                <a:latin typeface="Calibri"/>
              </a:rPr>
              <a:t>• Kriptologiya sohasini rivojlantirish (PQ-293, 2024)  •  «Kiberxavfsizlik to'g'risida»gi Qonun (O'RQ-764, 2022)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1C6E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0"/>
            <a:ext cx="1005840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Maqsad va vazifalar</a:t>
            </a:r>
          </a:p>
        </p:txBody>
      </p:sp>
      <p:sp>
        <p:nvSpPr>
          <p:cNvPr id="6" name="Rectangle 5"/>
          <p:cNvSpPr/>
          <p:nvPr/>
        </p:nvSpPr>
        <p:spPr>
          <a:xfrm>
            <a:off x="11247120" y="292608"/>
            <a:ext cx="457200" cy="457200"/>
          </a:xfrm>
          <a:prstGeom prst="rect">
            <a:avLst/>
          </a:prstGeom>
          <a:solidFill>
            <a:srgbClr val="1C6E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247120" y="351931"/>
            <a:ext cx="45720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/>
              </a:rPr>
              <a:t>3</a:t>
            </a:r>
            <a:endParaRPr sz="16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31520" y="1371600"/>
            <a:ext cx="10698480" cy="1097280"/>
          </a:xfrm>
          <a:prstGeom prst="rect">
            <a:avLst/>
          </a:prstGeom>
          <a:solidFill>
            <a:srgbClr val="1C6E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1508760"/>
            <a:ext cx="101498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Maqsad:  Yengil vaznli kriptografik xesh funksiyalarni tahlil qilish, ularning samaradorligini baholash va solishtirma dasturiy vositani ishlab chiqish.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6974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 i="0">
                <a:solidFill>
                  <a:srgbClr val="0F2C4A"/>
                </a:solidFill>
                <a:latin typeface="Calibri"/>
              </a:rPr>
              <a:t>Vazifalar: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200400"/>
            <a:ext cx="106984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1800" b="1">
                <a:solidFill>
                  <a:srgbClr val="1C6EA4"/>
                </a:solidFill>
                <a:latin typeface="Calibri"/>
              </a:rPr>
              <a:t>▸  </a:t>
            </a:r>
            <a:r>
              <a:rPr sz="1800">
                <a:solidFill>
                  <a:srgbClr val="444A52"/>
                </a:solidFill>
                <a:latin typeface="Calibri"/>
              </a:rPr>
              <a:t>Axborotlarni kriptografik himoyalash va butunlikni ta'minlash usullarini o'rganish;</a:t>
            </a:r>
          </a:p>
          <a:p>
            <a:pPr algn="l">
              <a:spcAft>
                <a:spcPts val="1400"/>
              </a:spcAft>
            </a:pPr>
            <a:r>
              <a:rPr sz="1800" b="1">
                <a:solidFill>
                  <a:srgbClr val="1C6EA4"/>
                </a:solidFill>
                <a:latin typeface="Calibri"/>
              </a:rPr>
              <a:t>▸  </a:t>
            </a:r>
            <a:r>
              <a:rPr sz="1800">
                <a:solidFill>
                  <a:srgbClr val="444A52"/>
                </a:solidFill>
                <a:latin typeface="Calibri"/>
              </a:rPr>
              <a:t>An'anaviy va yengil vaznli xesh funksiyalar tasnifini tahlil qilish;</a:t>
            </a:r>
          </a:p>
          <a:p>
            <a:pPr algn="l">
              <a:spcAft>
                <a:spcPts val="1400"/>
              </a:spcAft>
            </a:pPr>
            <a:r>
              <a:rPr sz="1800" b="1">
                <a:solidFill>
                  <a:srgbClr val="1C6EA4"/>
                </a:solidFill>
                <a:latin typeface="Calibri"/>
              </a:rPr>
              <a:t>▸  </a:t>
            </a:r>
            <a:r>
              <a:rPr sz="1800">
                <a:solidFill>
                  <a:srgbClr val="444A52"/>
                </a:solidFill>
                <a:latin typeface="Calibri"/>
              </a:rPr>
              <a:t>Ascon, PHOTON, SPONGENT algoritmlarining tuzilishini o'rganish;</a:t>
            </a:r>
          </a:p>
          <a:p>
            <a:pPr algn="l">
              <a:spcAft>
                <a:spcPts val="1400"/>
              </a:spcAft>
            </a:pPr>
            <a:r>
              <a:rPr sz="1800" b="1">
                <a:solidFill>
                  <a:srgbClr val="1C6EA4"/>
                </a:solidFill>
                <a:latin typeface="Calibri"/>
              </a:rPr>
              <a:t>▸  </a:t>
            </a:r>
            <a:r>
              <a:rPr sz="1800">
                <a:solidFill>
                  <a:srgbClr val="444A52"/>
                </a:solidFill>
                <a:latin typeface="Calibri"/>
              </a:rPr>
              <a:t>Avalanche effekti, tezlik va resurs sarfi bo'yicha solishtirma tahlil o'tkazish;</a:t>
            </a:r>
          </a:p>
          <a:p>
            <a:pPr algn="l">
              <a:spcAft>
                <a:spcPts val="1400"/>
              </a:spcAft>
            </a:pPr>
            <a:r>
              <a:rPr sz="1800" b="1">
                <a:solidFill>
                  <a:srgbClr val="1C6EA4"/>
                </a:solidFill>
                <a:latin typeface="Calibri"/>
              </a:rPr>
              <a:t>▸  </a:t>
            </a:r>
            <a:r>
              <a:rPr sz="1800">
                <a:solidFill>
                  <a:srgbClr val="444A52"/>
                </a:solidFill>
                <a:latin typeface="Calibri"/>
              </a:rPr>
              <a:t>Solishtirma natijalarni ko'rsatuvchi dasturiy ta'minot ishlab chiqish.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1C6E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0"/>
            <a:ext cx="1005840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Xesh funksiya o'zi nima?</a:t>
            </a:r>
          </a:p>
        </p:txBody>
      </p:sp>
      <p:sp>
        <p:nvSpPr>
          <p:cNvPr id="6" name="Rectangle 5"/>
          <p:cNvSpPr/>
          <p:nvPr/>
        </p:nvSpPr>
        <p:spPr>
          <a:xfrm>
            <a:off x="11247120" y="292608"/>
            <a:ext cx="457200" cy="457200"/>
          </a:xfrm>
          <a:prstGeom prst="rect">
            <a:avLst/>
          </a:prstGeom>
          <a:solidFill>
            <a:srgbClr val="1C6E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47120" y="292608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325880"/>
            <a:ext cx="10698480" cy="1051560"/>
          </a:xfrm>
          <a:prstGeom prst="rect">
            <a:avLst/>
          </a:prstGeom>
          <a:solidFill>
            <a:srgbClr val="1C6E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444752"/>
            <a:ext cx="101498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Xesh funksiya — ixtiyoriy uzunlikdagi ma'lumotni (matn, fayl, parol) belgilangan o'lchamli noyob «raqamli barmoq izi»ga aylantiruvchi matematik funksiya.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606040"/>
            <a:ext cx="10698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>
                <a:solidFill>
                  <a:srgbClr val="0F2C4A"/>
                </a:solidFill>
                <a:latin typeface="Calibri"/>
              </a:rPr>
              <a:t>Misol (SHA-256):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3063240"/>
            <a:ext cx="2103120" cy="502920"/>
          </a:xfrm>
          <a:prstGeom prst="rect">
            <a:avLst/>
          </a:prstGeom>
          <a:solidFill>
            <a:srgbClr val="E8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063240"/>
            <a:ext cx="21031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 i="0">
                <a:solidFill>
                  <a:srgbClr val="0F2C4A"/>
                </a:solidFill>
                <a:latin typeface="Calibri"/>
              </a:rPr>
              <a:t>“Salom”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71800" y="3063240"/>
            <a:ext cx="5486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 i="0">
                <a:solidFill>
                  <a:srgbClr val="1C6EA4"/>
                </a:solidFill>
                <a:latin typeface="Calibri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11880" y="3063240"/>
            <a:ext cx="49377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1E8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11880" y="3063240"/>
            <a:ext cx="49377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 i="0">
                <a:solidFill>
                  <a:srgbClr val="1E8E5A"/>
                </a:solidFill>
                <a:latin typeface="Consolas"/>
              </a:rPr>
              <a:t>a1b2c3...8f9e   (256 bit)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3703320"/>
            <a:ext cx="2103120" cy="502920"/>
          </a:xfrm>
          <a:prstGeom prst="rect">
            <a:avLst/>
          </a:prstGeom>
          <a:solidFill>
            <a:srgbClr val="E8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3703320"/>
            <a:ext cx="21031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 i="0">
                <a:solidFill>
                  <a:srgbClr val="0F2C4A"/>
                </a:solidFill>
                <a:latin typeface="Calibri"/>
              </a:rPr>
              <a:t>“salom”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71800" y="3703320"/>
            <a:ext cx="5486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 i="0">
                <a:solidFill>
                  <a:srgbClr val="1C6EA4"/>
                </a:solidFill>
                <a:latin typeface="Calibri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11880" y="3703320"/>
            <a:ext cx="49377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11880" y="3703320"/>
            <a:ext cx="49377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 i="0">
                <a:solidFill>
                  <a:srgbClr val="C0392B"/>
                </a:solidFill>
                <a:latin typeface="Consolas"/>
              </a:rPr>
              <a:t>7d4e9a...2c1b   (mutlaqo boshqa!)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370832"/>
            <a:ext cx="7772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1">
                <a:solidFill>
                  <a:srgbClr val="444A52"/>
                </a:solidFill>
                <a:latin typeface="Calibri"/>
              </a:rPr>
              <a:t>Bitta harf o'zgarsa — xesh butunlay o'zgaradi (avalanche effekti).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778240" y="2606040"/>
            <a:ext cx="2651760" cy="3291840"/>
          </a:xfrm>
          <a:prstGeom prst="rect">
            <a:avLst/>
          </a:prstGeom>
          <a:solidFill>
            <a:srgbClr val="0F2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69680" y="2697480"/>
            <a:ext cx="24688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Asosiy</a:t>
            </a:r>
          </a:p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xususiyatlar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15400" y="3611880"/>
            <a:ext cx="24231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300" b="1">
                <a:solidFill>
                  <a:srgbClr val="6FB5E0"/>
                </a:solidFill>
                <a:latin typeface="Calibri"/>
              </a:rPr>
              <a:t>▸  </a:t>
            </a:r>
            <a:r>
              <a:rPr sz="1300">
                <a:solidFill>
                  <a:srgbClr val="E8F1F8"/>
                </a:solidFill>
                <a:latin typeface="Calibri"/>
              </a:rPr>
              <a:t>Bir tomonlama</a:t>
            </a:r>
          </a:p>
          <a:p>
            <a:pPr algn="l">
              <a:spcAft>
                <a:spcPts val="1000"/>
              </a:spcAft>
            </a:pPr>
            <a:r>
              <a:rPr sz="1300" b="1">
                <a:solidFill>
                  <a:srgbClr val="6FB5E0"/>
                </a:solidFill>
                <a:latin typeface="Calibri"/>
              </a:rPr>
              <a:t>▸  </a:t>
            </a:r>
            <a:r>
              <a:rPr sz="1300">
                <a:solidFill>
                  <a:srgbClr val="E8F1F8"/>
                </a:solidFill>
                <a:latin typeface="Calibri"/>
              </a:rPr>
              <a:t>Tez hisoblanadi</a:t>
            </a:r>
          </a:p>
          <a:p>
            <a:pPr algn="l">
              <a:spcAft>
                <a:spcPts val="1000"/>
              </a:spcAft>
            </a:pPr>
            <a:r>
              <a:rPr sz="1300" b="1">
                <a:solidFill>
                  <a:srgbClr val="6FB5E0"/>
                </a:solidFill>
                <a:latin typeface="Calibri"/>
              </a:rPr>
              <a:t>▸  </a:t>
            </a:r>
            <a:r>
              <a:rPr sz="1300">
                <a:solidFill>
                  <a:srgbClr val="E8F1F8"/>
                </a:solidFill>
                <a:latin typeface="Calibri"/>
              </a:rPr>
              <a:t>Belgilangan uzunlik</a:t>
            </a:r>
          </a:p>
          <a:p>
            <a:pPr algn="l">
              <a:spcAft>
                <a:spcPts val="1000"/>
              </a:spcAft>
            </a:pPr>
            <a:r>
              <a:rPr sz="1300" b="1">
                <a:solidFill>
                  <a:srgbClr val="6FB5E0"/>
                </a:solidFill>
                <a:latin typeface="Calibri"/>
              </a:rPr>
              <a:t>▸  </a:t>
            </a:r>
            <a:r>
              <a:rPr sz="1300">
                <a:solidFill>
                  <a:srgbClr val="E8F1F8"/>
                </a:solidFill>
                <a:latin typeface="Calibri"/>
              </a:rPr>
              <a:t>Noyob natija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6035040"/>
            <a:ext cx="10698480" cy="502920"/>
          </a:xfrm>
          <a:prstGeom prst="rect">
            <a:avLst/>
          </a:prstGeom>
          <a:solidFill>
            <a:srgbClr val="E8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6035040"/>
            <a:ext cx="103327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 i="0">
                <a:solidFill>
                  <a:srgbClr val="444A52"/>
                </a:solidFill>
                <a:latin typeface="Calibri"/>
              </a:rPr>
              <a:t>Qo'llanilishi: parollarni saqlash, fayl yaxlitligini tekshirish, raqamli imzo, bloklarni bog'lash (blockchain).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1C6E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0"/>
            <a:ext cx="1005840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Muammoning qo'yilishi</a:t>
            </a:r>
          </a:p>
        </p:txBody>
      </p:sp>
      <p:sp>
        <p:nvSpPr>
          <p:cNvPr id="6" name="Rectangle 5"/>
          <p:cNvSpPr/>
          <p:nvPr/>
        </p:nvSpPr>
        <p:spPr>
          <a:xfrm>
            <a:off x="11247120" y="292608"/>
            <a:ext cx="457200" cy="457200"/>
          </a:xfrm>
          <a:prstGeom prst="rect">
            <a:avLst/>
          </a:prstGeom>
          <a:solidFill>
            <a:srgbClr val="1C6E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247120" y="351931"/>
            <a:ext cx="45720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/>
              </a:rPr>
              <a:t>5</a:t>
            </a:r>
            <a:endParaRPr sz="16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31520" y="132588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 i="0">
                <a:solidFill>
                  <a:srgbClr val="0F2C4A"/>
                </a:solidFill>
                <a:latin typeface="Calibri"/>
              </a:rPr>
              <a:t>Resurslari cheklangan qurilmalarda xavfsizlik va samaradorlik o'rtasidagi ziddiyat: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103120"/>
            <a:ext cx="5120640" cy="3566160"/>
          </a:xfrm>
          <a:prstGeom prst="rect">
            <a:avLst/>
          </a:prstGeom>
          <a:solidFill>
            <a:srgbClr val="E8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2286000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 i="0">
                <a:solidFill>
                  <a:srgbClr val="1C6EA4"/>
                </a:solidFill>
                <a:latin typeface="Calibri"/>
              </a:rPr>
              <a:t>An'anaviy xesh funksiyalar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834640"/>
            <a:ext cx="47548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600" b="1">
                <a:solidFill>
                  <a:srgbClr val="1C6EA4"/>
                </a:solidFill>
                <a:latin typeface="Calibri"/>
              </a:rPr>
              <a:t>▸  </a:t>
            </a:r>
            <a:r>
              <a:rPr sz="1600">
                <a:solidFill>
                  <a:srgbClr val="444A52"/>
                </a:solidFill>
                <a:latin typeface="Calibri"/>
              </a:rPr>
              <a:t>Yuqori xavfsizlik darajasi</a:t>
            </a:r>
          </a:p>
          <a:p>
            <a:pPr algn="l">
              <a:spcAft>
                <a:spcPts val="1200"/>
              </a:spcAft>
            </a:pPr>
            <a:r>
              <a:rPr sz="1600" b="1">
                <a:solidFill>
                  <a:srgbClr val="1C6EA4"/>
                </a:solidFill>
                <a:latin typeface="Calibri"/>
              </a:rPr>
              <a:t>▸  </a:t>
            </a:r>
            <a:r>
              <a:rPr sz="1600">
                <a:solidFill>
                  <a:srgbClr val="444A52"/>
                </a:solidFill>
                <a:latin typeface="Calibri"/>
              </a:rPr>
              <a:t>Katta gate ekvivalenti (10 000+ GE)</a:t>
            </a:r>
          </a:p>
          <a:p>
            <a:pPr algn="l">
              <a:spcAft>
                <a:spcPts val="1200"/>
              </a:spcAft>
            </a:pPr>
            <a:r>
              <a:rPr sz="1600" b="1">
                <a:solidFill>
                  <a:srgbClr val="1C6EA4"/>
                </a:solidFill>
                <a:latin typeface="Calibri"/>
              </a:rPr>
              <a:t>▸  </a:t>
            </a:r>
            <a:r>
              <a:rPr sz="1600">
                <a:solidFill>
                  <a:srgbClr val="444A52"/>
                </a:solidFill>
                <a:latin typeface="Calibri"/>
              </a:rPr>
              <a:t>Ko'p xotira va quvvat talab qiladi</a:t>
            </a:r>
          </a:p>
          <a:p>
            <a:pPr algn="l">
              <a:spcAft>
                <a:spcPts val="1200"/>
              </a:spcAft>
            </a:pPr>
            <a:r>
              <a:rPr sz="1600" b="1">
                <a:solidFill>
                  <a:srgbClr val="1C6EA4"/>
                </a:solidFill>
                <a:latin typeface="Calibri"/>
              </a:rPr>
              <a:t>▸  </a:t>
            </a:r>
            <a:r>
              <a:rPr sz="1600">
                <a:solidFill>
                  <a:srgbClr val="444A52"/>
                </a:solidFill>
                <a:latin typeface="Calibri"/>
              </a:rPr>
              <a:t>IoT qurilmalari uchun mos emas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2103120"/>
            <a:ext cx="5120640" cy="3566160"/>
          </a:xfrm>
          <a:prstGeom prst="rect">
            <a:avLst/>
          </a:prstGeom>
          <a:solidFill>
            <a:srgbClr val="0F2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92240" y="2286000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 i="0">
                <a:solidFill>
                  <a:srgbClr val="E8F1F8"/>
                </a:solidFill>
                <a:latin typeface="Calibri"/>
              </a:rPr>
              <a:t>Yengil vaznli xesh funksiyalar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834640"/>
            <a:ext cx="47548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600" b="1">
                <a:solidFill>
                  <a:srgbClr val="6FB5E0"/>
                </a:solidFill>
                <a:latin typeface="Calibri"/>
              </a:rPr>
              <a:t>▸  </a:t>
            </a:r>
            <a:r>
              <a:rPr sz="1600">
                <a:solidFill>
                  <a:srgbClr val="E8F1F8"/>
                </a:solidFill>
                <a:latin typeface="Calibri"/>
              </a:rPr>
              <a:t>Past resurs sarfi (1 300–3 700 GE)</a:t>
            </a:r>
          </a:p>
          <a:p>
            <a:pPr algn="l">
              <a:spcAft>
                <a:spcPts val="1200"/>
              </a:spcAft>
            </a:pPr>
            <a:r>
              <a:rPr sz="1600" b="1">
                <a:solidFill>
                  <a:srgbClr val="6FB5E0"/>
                </a:solidFill>
                <a:latin typeface="Calibri"/>
              </a:rPr>
              <a:t>▸  </a:t>
            </a:r>
            <a:r>
              <a:rPr sz="1600">
                <a:solidFill>
                  <a:srgbClr val="E8F1F8"/>
                </a:solidFill>
                <a:latin typeface="Calibri"/>
              </a:rPr>
              <a:t>Kam xotira va energiya</a:t>
            </a:r>
          </a:p>
          <a:p>
            <a:pPr algn="l">
              <a:spcAft>
                <a:spcPts val="1200"/>
              </a:spcAft>
            </a:pPr>
            <a:r>
              <a:rPr sz="1600" b="1">
                <a:solidFill>
                  <a:srgbClr val="6FB5E0"/>
                </a:solidFill>
                <a:latin typeface="Calibri"/>
              </a:rPr>
              <a:t>▸  </a:t>
            </a:r>
            <a:r>
              <a:rPr sz="1600">
                <a:solidFill>
                  <a:srgbClr val="E8F1F8"/>
                </a:solidFill>
                <a:latin typeface="Calibri"/>
              </a:rPr>
              <a:t>IoT, RFID, sensorlar uchun mos</a:t>
            </a:r>
          </a:p>
          <a:p>
            <a:pPr algn="l">
              <a:spcAft>
                <a:spcPts val="1200"/>
              </a:spcAft>
            </a:pPr>
            <a:r>
              <a:rPr sz="1600" b="1">
                <a:solidFill>
                  <a:srgbClr val="6FB5E0"/>
                </a:solidFill>
                <a:latin typeface="Calibri"/>
              </a:rPr>
              <a:t>▸  </a:t>
            </a:r>
            <a:r>
              <a:rPr sz="1600">
                <a:solidFill>
                  <a:srgbClr val="E8F1F8"/>
                </a:solidFill>
                <a:latin typeface="Calibri"/>
              </a:rPr>
              <a:t>Standartlashtirish jarayoni davom etmoqda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1C6E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0"/>
            <a:ext cx="1005840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Xesh funksiya konstruksiyalari</a:t>
            </a:r>
          </a:p>
        </p:txBody>
      </p:sp>
      <p:sp>
        <p:nvSpPr>
          <p:cNvPr id="6" name="Rectangle 5"/>
          <p:cNvSpPr/>
          <p:nvPr/>
        </p:nvSpPr>
        <p:spPr>
          <a:xfrm>
            <a:off x="11247120" y="292608"/>
            <a:ext cx="457200" cy="457200"/>
          </a:xfrm>
          <a:prstGeom prst="rect">
            <a:avLst/>
          </a:prstGeom>
          <a:solidFill>
            <a:srgbClr val="1C6E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47120" y="292608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280160"/>
            <a:ext cx="5120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0F2C4A"/>
                </a:solidFill>
                <a:latin typeface="Calibri"/>
              </a:rPr>
              <a:t>Asosiy konstruksiya turlari: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783080"/>
            <a:ext cx="109728" cy="1234440"/>
          </a:xfrm>
          <a:prstGeom prst="rect">
            <a:avLst/>
          </a:prstGeom>
          <a:solidFill>
            <a:srgbClr val="1C6E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783080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1C6EA4"/>
                </a:solidFill>
                <a:latin typeface="Calibri"/>
              </a:rPr>
              <a:t>Merkle–Damgård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167128"/>
            <a:ext cx="49377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444A52"/>
                </a:solidFill>
                <a:latin typeface="Calibri"/>
              </a:rPr>
              <a:t>Ma'lumot bloklarga bo'linib, ketma-ket siqish funksiyasidan o'tkaziladi. SHA-1, SHA-2, MD5 shu asosda.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154680"/>
            <a:ext cx="109728" cy="1234440"/>
          </a:xfrm>
          <a:prstGeom prst="rect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154680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1E8E5A"/>
                </a:solidFill>
                <a:latin typeface="Calibri"/>
              </a:rPr>
              <a:t>Sponge (g'ovak)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538728"/>
            <a:ext cx="49377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444A52"/>
                </a:solidFill>
                <a:latin typeface="Calibri"/>
              </a:rPr>
              <a:t>Absorbing (yutish) va squeezing (siqib chiqarish) bosqichlari. SHA-3, Ascon, PHOTON, SPONGENT.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4526280"/>
            <a:ext cx="109728" cy="1234440"/>
          </a:xfrm>
          <a:prstGeom prst="rect">
            <a:avLst/>
          </a:prstGeom>
          <a:solidFill>
            <a:srgbClr val="0F2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526280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0F2C4A"/>
                </a:solidFill>
                <a:latin typeface="Calibri"/>
              </a:rPr>
              <a:t>Blok-shifrga asoslangan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910328"/>
            <a:ext cx="49377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444A52"/>
                </a:solidFill>
                <a:latin typeface="Calibri"/>
              </a:rPr>
              <a:t>Davies–Meyer, Matyas–Meyer–Oseas, Miyaguchi–Preneel sxemalari blok shifrdan xesh quradi.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1280160"/>
            <a:ext cx="5486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0F2C4A"/>
                </a:solidFill>
                <a:latin typeface="Calibri"/>
              </a:rPr>
              <a:t>Sponge konstruksiyasi (yengil vaznli xesh asosi):</a:t>
            </a:r>
          </a:p>
        </p:txBody>
      </p:sp>
      <p:pic>
        <p:nvPicPr>
          <p:cNvPr id="19" name="Picture 18" descr="spo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1783080"/>
            <a:ext cx="5852160" cy="2955664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126480" y="5029200"/>
            <a:ext cx="55778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444A52"/>
                </a:solidFill>
                <a:latin typeface="Calibri"/>
              </a:rPr>
              <a:t>Yengil vaznli xesh funksiyalar (Ascon, PHOTON, SPONGENT) aynan Sponge konstruksiyasi va yengil blok shifrlar (PRESENT, GIFT, SIMON) ustiga quriladi.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1C6E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0"/>
            <a:ext cx="1005840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II BOB. Yengil vaznli xesh funksiyalar</a:t>
            </a:r>
          </a:p>
        </p:txBody>
      </p:sp>
      <p:sp>
        <p:nvSpPr>
          <p:cNvPr id="6" name="Rectangle 5"/>
          <p:cNvSpPr/>
          <p:nvPr/>
        </p:nvSpPr>
        <p:spPr>
          <a:xfrm>
            <a:off x="11247120" y="292608"/>
            <a:ext cx="457200" cy="457200"/>
          </a:xfrm>
          <a:prstGeom prst="rect">
            <a:avLst/>
          </a:prstGeom>
          <a:solidFill>
            <a:srgbClr val="1C6E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247120" y="292608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554480"/>
            <a:ext cx="352044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1E8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" y="1554480"/>
            <a:ext cx="3520440" cy="914400"/>
          </a:xfrm>
          <a:prstGeom prst="rect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1554480"/>
            <a:ext cx="333756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  <a:latin typeface="Calibri"/>
              </a:rPr>
              <a:t>Ascon-Hash256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697480"/>
            <a:ext cx="3017520" cy="3017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444A52"/>
                </a:solidFill>
                <a:latin typeface="Calibri"/>
              </a:rPr>
              <a:t>NIST LWC standarti (2023)</a:t>
            </a:r>
          </a:p>
          <a:p>
            <a:pPr algn="l"/>
            <a:r>
              <a:rPr sz="1600" b="0" i="0">
                <a:solidFill>
                  <a:srgbClr val="444A52"/>
                </a:solidFill>
                <a:latin typeface="Calibri"/>
              </a:rPr>
              <a:t>256 bit • Sponge • 12 raund</a:t>
            </a:r>
          </a:p>
          <a:p>
            <a:pPr algn="l"/>
            <a:r>
              <a:rPr sz="1600" b="0" i="0">
                <a:solidFill>
                  <a:srgbClr val="444A52"/>
                </a:solidFill>
                <a:latin typeface="Calibri"/>
              </a:rPr>
              <a:t>~2 570 GE • 5-bit S-box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43983" y="1554480"/>
            <a:ext cx="352044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1C6E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443983" y="1554480"/>
            <a:ext cx="3520440" cy="914400"/>
          </a:xfrm>
          <a:prstGeom prst="rect">
            <a:avLst/>
          </a:prstGeom>
          <a:solidFill>
            <a:srgbClr val="1C6E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35423" y="1554480"/>
            <a:ext cx="333756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  <a:latin typeface="Calibri"/>
              </a:rPr>
              <a:t>PHOTON-Beetle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18303" y="2697480"/>
            <a:ext cx="3017520" cy="3017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444A52"/>
                </a:solidFill>
                <a:latin typeface="Calibri"/>
              </a:rPr>
              <a:t>NIST LWC finalisti</a:t>
            </a:r>
          </a:p>
          <a:p>
            <a:pPr algn="l"/>
            <a:r>
              <a:rPr sz="1600" b="0" i="0">
                <a:solidFill>
                  <a:srgbClr val="444A52"/>
                </a:solidFill>
                <a:latin typeface="Calibri"/>
              </a:rPr>
              <a:t>256 bit • Beetle/Sponge</a:t>
            </a:r>
          </a:p>
          <a:p>
            <a:pPr algn="l"/>
            <a:r>
              <a:rPr sz="1600" b="0" i="0">
                <a:solidFill>
                  <a:srgbClr val="444A52"/>
                </a:solidFill>
                <a:latin typeface="Calibri"/>
              </a:rPr>
              <a:t>~3 700 GE • 4-bit S-box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56446" y="1554480"/>
            <a:ext cx="352044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0F2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156446" y="1554480"/>
            <a:ext cx="3520440" cy="914400"/>
          </a:xfrm>
          <a:prstGeom prst="rect">
            <a:avLst/>
          </a:prstGeom>
          <a:solidFill>
            <a:srgbClr val="0F2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47886" y="1554480"/>
            <a:ext cx="333756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  <a:latin typeface="Calibri"/>
              </a:rPr>
              <a:t>SPONGENT-128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30766" y="2697480"/>
            <a:ext cx="3017520" cy="3017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444A52"/>
                </a:solidFill>
                <a:latin typeface="Calibri"/>
              </a:rPr>
              <a:t>ISO/IEC 29192-5</a:t>
            </a:r>
          </a:p>
          <a:p>
            <a:pPr algn="l"/>
            <a:r>
              <a:rPr sz="1600" b="0" i="0">
                <a:solidFill>
                  <a:srgbClr val="444A52"/>
                </a:solidFill>
                <a:latin typeface="Calibri"/>
              </a:rPr>
              <a:t>128 bit • Sponge • 70 raund</a:t>
            </a:r>
          </a:p>
          <a:p>
            <a:pPr algn="l"/>
            <a:r>
              <a:rPr sz="1600" b="0" i="0">
                <a:solidFill>
                  <a:srgbClr val="444A52"/>
                </a:solidFill>
                <a:latin typeface="Calibri"/>
              </a:rPr>
              <a:t>~1 340 GE • eng kichik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 i="1">
                <a:solidFill>
                  <a:srgbClr val="444A52"/>
                </a:solidFill>
                <a:latin typeface="Calibri"/>
              </a:rPr>
              <a:t>Barchasi resurslari cheklangan IoT, RFID va sensorli tarmoqlar uchun mo'ljallangan.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1C6E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0"/>
            <a:ext cx="1005840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Avalanche (ko'chki) effekti tahlili</a:t>
            </a:r>
          </a:p>
        </p:txBody>
      </p:sp>
      <p:sp>
        <p:nvSpPr>
          <p:cNvPr id="6" name="Rectangle 5"/>
          <p:cNvSpPr/>
          <p:nvPr/>
        </p:nvSpPr>
        <p:spPr>
          <a:xfrm>
            <a:off x="11247120" y="292608"/>
            <a:ext cx="457200" cy="457200"/>
          </a:xfrm>
          <a:prstGeom prst="rect">
            <a:avLst/>
          </a:prstGeom>
          <a:solidFill>
            <a:srgbClr val="1C6E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247120" y="292608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280160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0">
                <a:solidFill>
                  <a:srgbClr val="444A52"/>
                </a:solidFill>
                <a:latin typeface="Calibri"/>
              </a:rPr>
              <a:t>Kirishdagi 1 bit o'zgarsa, chiqishning ~50% biti o'zgarishi kerak (ideal = 0.5).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2011680"/>
            <a:ext cx="3657600" cy="548640"/>
          </a:xfrm>
          <a:prstGeom prst="rect">
            <a:avLst/>
          </a:prstGeom>
          <a:solidFill>
            <a:srgbClr val="0F2C4A"/>
          </a:solidFill>
          <a:ln w="12700">
            <a:solidFill>
              <a:srgbClr val="0F2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371600" y="2011680"/>
            <a:ext cx="3657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Xesh funksiya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0" y="2011680"/>
            <a:ext cx="3200400" cy="548640"/>
          </a:xfrm>
          <a:prstGeom prst="rect">
            <a:avLst/>
          </a:prstGeom>
          <a:solidFill>
            <a:srgbClr val="0F2C4A"/>
          </a:solidFill>
          <a:ln w="12700">
            <a:solidFill>
              <a:srgbClr val="0F2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29200" y="2011680"/>
            <a:ext cx="3200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Avalanche nisbati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2011680"/>
            <a:ext cx="2560320" cy="548640"/>
          </a:xfrm>
          <a:prstGeom prst="rect">
            <a:avLst/>
          </a:prstGeom>
          <a:solidFill>
            <a:srgbClr val="0F2C4A"/>
          </a:solidFill>
          <a:ln w="12700">
            <a:solidFill>
              <a:srgbClr val="0F2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0" y="2011680"/>
            <a:ext cx="2560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Baho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371600" y="2560320"/>
            <a:ext cx="3657600" cy="548640"/>
          </a:xfrm>
          <a:prstGeom prst="rect">
            <a:avLst/>
          </a:prstGeom>
          <a:solidFill>
            <a:srgbClr val="E8F1F8"/>
          </a:solidFill>
          <a:ln w="12700">
            <a:solidFill>
              <a:srgbClr val="CC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371600" y="2560320"/>
            <a:ext cx="3657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0" i="0">
                <a:solidFill>
                  <a:srgbClr val="444A52"/>
                </a:solidFill>
                <a:latin typeface="Calibri"/>
              </a:rPr>
              <a:t>Ascon-Hash256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0" y="2560320"/>
            <a:ext cx="3200400" cy="548640"/>
          </a:xfrm>
          <a:prstGeom prst="rect">
            <a:avLst/>
          </a:prstGeom>
          <a:solidFill>
            <a:srgbClr val="E8F1F8"/>
          </a:solidFill>
          <a:ln w="12700">
            <a:solidFill>
              <a:srgbClr val="CC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029200" y="2560320"/>
            <a:ext cx="3200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0" i="0">
                <a:solidFill>
                  <a:srgbClr val="444A52"/>
                </a:solidFill>
                <a:latin typeface="Calibri"/>
              </a:rPr>
              <a:t>0.4998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0" y="2560320"/>
            <a:ext cx="2560320" cy="548640"/>
          </a:xfrm>
          <a:prstGeom prst="rect">
            <a:avLst/>
          </a:prstGeom>
          <a:solidFill>
            <a:srgbClr val="E8F1F8"/>
          </a:solidFill>
          <a:ln w="12700">
            <a:solidFill>
              <a:srgbClr val="CC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29600" y="2560320"/>
            <a:ext cx="2560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0" i="0">
                <a:solidFill>
                  <a:srgbClr val="444A52"/>
                </a:solidFill>
                <a:latin typeface="Calibri"/>
              </a:rPr>
              <a:t>Juda yaxshi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371600" y="3108960"/>
            <a:ext cx="36576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371600" y="3108960"/>
            <a:ext cx="3657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0" i="0">
                <a:solidFill>
                  <a:srgbClr val="444A52"/>
                </a:solidFill>
                <a:latin typeface="Calibri"/>
              </a:rPr>
              <a:t>PHOTON-Beetle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0" y="3108960"/>
            <a:ext cx="32004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029200" y="3108960"/>
            <a:ext cx="3200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0" i="0">
                <a:solidFill>
                  <a:srgbClr val="444A52"/>
                </a:solidFill>
                <a:latin typeface="Calibri"/>
              </a:rPr>
              <a:t>0.5003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0" y="3108960"/>
            <a:ext cx="25603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229600" y="3108960"/>
            <a:ext cx="2560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0" i="0">
                <a:solidFill>
                  <a:srgbClr val="444A52"/>
                </a:solidFill>
                <a:latin typeface="Calibri"/>
              </a:rPr>
              <a:t>Juda yaxshi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371600" y="3657600"/>
            <a:ext cx="3657600" cy="548640"/>
          </a:xfrm>
          <a:prstGeom prst="rect">
            <a:avLst/>
          </a:prstGeom>
          <a:solidFill>
            <a:srgbClr val="E8F1F8"/>
          </a:solidFill>
          <a:ln w="12700">
            <a:solidFill>
              <a:srgbClr val="CC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371600" y="3657600"/>
            <a:ext cx="3657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0" i="0">
                <a:solidFill>
                  <a:srgbClr val="444A52"/>
                </a:solidFill>
                <a:latin typeface="Calibri"/>
              </a:rPr>
              <a:t>SPONGENT-128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0" y="3657600"/>
            <a:ext cx="3200400" cy="548640"/>
          </a:xfrm>
          <a:prstGeom prst="rect">
            <a:avLst/>
          </a:prstGeom>
          <a:solidFill>
            <a:srgbClr val="E8F1F8"/>
          </a:solidFill>
          <a:ln w="12700">
            <a:solidFill>
              <a:srgbClr val="CC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029200" y="3657600"/>
            <a:ext cx="3200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0" i="0">
                <a:solidFill>
                  <a:srgbClr val="444A52"/>
                </a:solidFill>
                <a:latin typeface="Calibri"/>
              </a:rPr>
              <a:t>0.4995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29600" y="3657600"/>
            <a:ext cx="2560320" cy="548640"/>
          </a:xfrm>
          <a:prstGeom prst="rect">
            <a:avLst/>
          </a:prstGeom>
          <a:solidFill>
            <a:srgbClr val="E8F1F8"/>
          </a:solidFill>
          <a:ln w="12700">
            <a:solidFill>
              <a:srgbClr val="CC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229600" y="3657600"/>
            <a:ext cx="2560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0" i="0">
                <a:solidFill>
                  <a:srgbClr val="444A52"/>
                </a:solidFill>
                <a:latin typeface="Calibri"/>
              </a:rPr>
              <a:t>Juda yaxshi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371600" y="4206240"/>
            <a:ext cx="36576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371600" y="4206240"/>
            <a:ext cx="3657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0" i="0">
                <a:solidFill>
                  <a:srgbClr val="444A52"/>
                </a:solidFill>
                <a:latin typeface="Calibri"/>
              </a:rPr>
              <a:t>SHA-256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29200" y="4206240"/>
            <a:ext cx="32004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029200" y="4206240"/>
            <a:ext cx="3200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0" i="0">
                <a:solidFill>
                  <a:srgbClr val="444A52"/>
                </a:solidFill>
                <a:latin typeface="Calibri"/>
              </a:rPr>
              <a:t>0.5001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229600" y="4206240"/>
            <a:ext cx="25603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229600" y="4206240"/>
            <a:ext cx="2560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0" i="0">
                <a:solidFill>
                  <a:srgbClr val="444A52"/>
                </a:solidFill>
                <a:latin typeface="Calibri"/>
              </a:rPr>
              <a:t>Juda yaxshi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371600" y="4754880"/>
            <a:ext cx="3657600" cy="548640"/>
          </a:xfrm>
          <a:prstGeom prst="rect">
            <a:avLst/>
          </a:prstGeom>
          <a:solidFill>
            <a:srgbClr val="E8F1F8"/>
          </a:solidFill>
          <a:ln w="12700">
            <a:solidFill>
              <a:srgbClr val="CC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371600" y="4754880"/>
            <a:ext cx="3657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0" i="0">
                <a:solidFill>
                  <a:srgbClr val="444A52"/>
                </a:solidFill>
                <a:latin typeface="Calibri"/>
              </a:rPr>
              <a:t>SHA-3-256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029200" y="4754880"/>
            <a:ext cx="3200400" cy="548640"/>
          </a:xfrm>
          <a:prstGeom prst="rect">
            <a:avLst/>
          </a:prstGeom>
          <a:solidFill>
            <a:srgbClr val="E8F1F8"/>
          </a:solidFill>
          <a:ln w="12700">
            <a:solidFill>
              <a:srgbClr val="CC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029200" y="4754880"/>
            <a:ext cx="3200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0" i="0">
                <a:solidFill>
                  <a:srgbClr val="444A52"/>
                </a:solidFill>
                <a:latin typeface="Calibri"/>
              </a:rPr>
              <a:t>0.4999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229600" y="4754880"/>
            <a:ext cx="2560320" cy="548640"/>
          </a:xfrm>
          <a:prstGeom prst="rect">
            <a:avLst/>
          </a:prstGeom>
          <a:solidFill>
            <a:srgbClr val="E8F1F8"/>
          </a:solidFill>
          <a:ln w="12700">
            <a:solidFill>
              <a:srgbClr val="CC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229600" y="4754880"/>
            <a:ext cx="2560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0" i="0">
                <a:solidFill>
                  <a:srgbClr val="444A52"/>
                </a:solidFill>
                <a:latin typeface="Calibri"/>
              </a:rPr>
              <a:t>Juda yaxshi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371600" y="5303520"/>
            <a:ext cx="36576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1371600" y="5303520"/>
            <a:ext cx="3657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0" i="0">
                <a:solidFill>
                  <a:srgbClr val="444A52"/>
                </a:solidFill>
                <a:latin typeface="Calibri"/>
              </a:rPr>
              <a:t>BLAKE2s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029200" y="5303520"/>
            <a:ext cx="32004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029200" y="5303520"/>
            <a:ext cx="3200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0" i="0">
                <a:solidFill>
                  <a:srgbClr val="444A52"/>
                </a:solidFill>
                <a:latin typeface="Calibri"/>
              </a:rPr>
              <a:t>0.5002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229600" y="5303520"/>
            <a:ext cx="25603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229600" y="5303520"/>
            <a:ext cx="2560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0" i="0">
                <a:solidFill>
                  <a:srgbClr val="444A52"/>
                </a:solidFill>
                <a:latin typeface="Calibri"/>
              </a:rPr>
              <a:t>Juda yaxshi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31520" y="608076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 i="0">
                <a:solidFill>
                  <a:srgbClr val="1E8E5A"/>
                </a:solidFill>
                <a:latin typeface="Calibri"/>
              </a:rPr>
              <a:t>Natija: barcha algoritmlar ideal avalanche qiymatiga juda yaqin — kriptografik mustahkamligi yuqori.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1C6E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0"/>
            <a:ext cx="1005840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Tezlik va apparat resurslari tahlili</a:t>
            </a:r>
          </a:p>
        </p:txBody>
      </p:sp>
      <p:sp>
        <p:nvSpPr>
          <p:cNvPr id="6" name="Rectangle 5"/>
          <p:cNvSpPr/>
          <p:nvPr/>
        </p:nvSpPr>
        <p:spPr>
          <a:xfrm>
            <a:off x="11247120" y="292608"/>
            <a:ext cx="457200" cy="457200"/>
          </a:xfrm>
          <a:prstGeom prst="rect">
            <a:avLst/>
          </a:prstGeom>
          <a:solidFill>
            <a:srgbClr val="1C6E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247120" y="292608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234440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>
                <a:solidFill>
                  <a:srgbClr val="0F2C4A"/>
                </a:solidFill>
                <a:latin typeface="Calibri"/>
              </a:rPr>
              <a:t>Dasturiy tezlik (MB/s)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828800"/>
            <a:ext cx="1371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444A52"/>
                </a:solidFill>
                <a:latin typeface="Calibri"/>
              </a:rPr>
              <a:t>BLAKE2s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194560" y="1856232"/>
            <a:ext cx="4389120" cy="274320"/>
          </a:xfrm>
          <a:prstGeom prst="rect">
            <a:avLst/>
          </a:prstGeom>
          <a:solidFill>
            <a:srgbClr val="444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23680" y="1828800"/>
            <a:ext cx="10972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444A52"/>
                </a:solidFill>
                <a:latin typeface="Calibri"/>
              </a:rPr>
              <a:t>180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286000"/>
            <a:ext cx="1371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444A52"/>
                </a:solidFill>
                <a:latin typeface="Calibri"/>
              </a:rPr>
              <a:t>SHA-256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194560" y="2313432"/>
            <a:ext cx="3657600" cy="274320"/>
          </a:xfrm>
          <a:prstGeom prst="rect">
            <a:avLst/>
          </a:prstGeom>
          <a:solidFill>
            <a:srgbClr val="444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892160" y="2286000"/>
            <a:ext cx="10972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444A52"/>
                </a:solidFill>
                <a:latin typeface="Calibri"/>
              </a:rPr>
              <a:t>150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2743200"/>
            <a:ext cx="1371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444A52"/>
                </a:solidFill>
                <a:latin typeface="Calibri"/>
              </a:rPr>
              <a:t>SHA-3-256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194560" y="2770632"/>
            <a:ext cx="2926080" cy="274320"/>
          </a:xfrm>
          <a:prstGeom prst="rect">
            <a:avLst/>
          </a:prstGeom>
          <a:solidFill>
            <a:srgbClr val="444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160640" y="2743200"/>
            <a:ext cx="10972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444A52"/>
                </a:solidFill>
                <a:latin typeface="Calibri"/>
              </a:rPr>
              <a:t>120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200400"/>
            <a:ext cx="1371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444A52"/>
                </a:solidFill>
                <a:latin typeface="Calibri"/>
              </a:rPr>
              <a:t>Ascon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194560" y="3227832"/>
            <a:ext cx="60960" cy="274320"/>
          </a:xfrm>
          <a:prstGeom prst="rect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295520" y="3200400"/>
            <a:ext cx="10972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444A52"/>
                </a:solidFill>
                <a:latin typeface="Calibri"/>
              </a:rPr>
              <a:t>2.5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3657600"/>
            <a:ext cx="1371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444A52"/>
                </a:solidFill>
                <a:latin typeface="Calibri"/>
              </a:rPr>
              <a:t>PHOTON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194560" y="3685032"/>
            <a:ext cx="60000" cy="274320"/>
          </a:xfrm>
          <a:prstGeom prst="rect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294560" y="3657600"/>
            <a:ext cx="10972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444A52"/>
                </a:solidFill>
                <a:latin typeface="Calibri"/>
              </a:rPr>
              <a:t>0.03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4114800"/>
            <a:ext cx="1371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444A52"/>
                </a:solidFill>
                <a:latin typeface="Calibri"/>
              </a:rPr>
              <a:t>SPONGENT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194560" y="4142232"/>
            <a:ext cx="60000" cy="274320"/>
          </a:xfrm>
          <a:prstGeom prst="rect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294560" y="4114800"/>
            <a:ext cx="10972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444A52"/>
                </a:solidFill>
                <a:latin typeface="Calibri"/>
              </a:rPr>
              <a:t>0.01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1234440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>
                <a:solidFill>
                  <a:srgbClr val="0F2C4A"/>
                </a:solidFill>
                <a:latin typeface="Calibri"/>
              </a:rPr>
              <a:t>Gate ekvivalenti (GE)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0" y="1828800"/>
            <a:ext cx="109728" cy="365760"/>
          </a:xfrm>
          <a:prstGeom prst="rect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812280" y="1828800"/>
            <a:ext cx="25603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 i="0">
                <a:solidFill>
                  <a:srgbClr val="444A52"/>
                </a:solidFill>
                <a:latin typeface="Calibri"/>
              </a:rPr>
              <a:t>SPONGENT-128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18320" y="1828800"/>
            <a:ext cx="20116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i="0">
                <a:solidFill>
                  <a:srgbClr val="1E8E5A"/>
                </a:solidFill>
                <a:latin typeface="Calibri"/>
              </a:rPr>
              <a:t>~1 340 GE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0" y="2286000"/>
            <a:ext cx="109728" cy="365760"/>
          </a:xfrm>
          <a:prstGeom prst="rect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812280" y="2286000"/>
            <a:ext cx="25603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 i="0">
                <a:solidFill>
                  <a:srgbClr val="444A52"/>
                </a:solidFill>
                <a:latin typeface="Calibri"/>
              </a:rPr>
              <a:t>Ascon-Hash256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18320" y="2286000"/>
            <a:ext cx="20116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i="0">
                <a:solidFill>
                  <a:srgbClr val="1E8E5A"/>
                </a:solidFill>
                <a:latin typeface="Calibri"/>
              </a:rPr>
              <a:t>~2 570 GE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0" y="2743200"/>
            <a:ext cx="109728" cy="365760"/>
          </a:xfrm>
          <a:prstGeom prst="rect">
            <a:avLst/>
          </a:prstGeom>
          <a:solidFill>
            <a:srgbClr val="1C6E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812280" y="2743200"/>
            <a:ext cx="25603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 i="0">
                <a:solidFill>
                  <a:srgbClr val="444A52"/>
                </a:solidFill>
                <a:latin typeface="Calibri"/>
              </a:rPr>
              <a:t>PHOTON-Beetle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18320" y="2743200"/>
            <a:ext cx="20116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i="0">
                <a:solidFill>
                  <a:srgbClr val="1C6EA4"/>
                </a:solidFill>
                <a:latin typeface="Calibri"/>
              </a:rPr>
              <a:t>~3 700 GE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0" y="3200400"/>
            <a:ext cx="109728" cy="365760"/>
          </a:xfrm>
          <a:prstGeom prst="rect">
            <a:avLst/>
          </a:prstGeom>
          <a:solidFill>
            <a:srgbClr val="444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812280" y="3200400"/>
            <a:ext cx="25603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 i="0">
                <a:solidFill>
                  <a:srgbClr val="444A52"/>
                </a:solidFill>
                <a:latin typeface="Calibri"/>
              </a:rPr>
              <a:t>BLAKE2s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418320" y="3200400"/>
            <a:ext cx="20116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i="0">
                <a:solidFill>
                  <a:srgbClr val="444A52"/>
                </a:solidFill>
                <a:latin typeface="Calibri"/>
              </a:rPr>
              <a:t>~8 000 GE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583680" y="3657600"/>
            <a:ext cx="109728" cy="365760"/>
          </a:xfrm>
          <a:prstGeom prst="rect">
            <a:avLst/>
          </a:prstGeom>
          <a:solidFill>
            <a:srgbClr val="444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812280" y="3657600"/>
            <a:ext cx="25603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 i="0">
                <a:solidFill>
                  <a:srgbClr val="444A52"/>
                </a:solidFill>
                <a:latin typeface="Calibri"/>
              </a:rPr>
              <a:t>SHA-256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418320" y="3657600"/>
            <a:ext cx="20116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i="0">
                <a:solidFill>
                  <a:srgbClr val="444A52"/>
                </a:solidFill>
                <a:latin typeface="Calibri"/>
              </a:rPr>
              <a:t>~10 000+ GE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0" y="4114800"/>
            <a:ext cx="109728" cy="365760"/>
          </a:xfrm>
          <a:prstGeom prst="rect">
            <a:avLst/>
          </a:prstGeom>
          <a:solidFill>
            <a:srgbClr val="444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812280" y="4114800"/>
            <a:ext cx="25603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 i="0">
                <a:solidFill>
                  <a:srgbClr val="444A52"/>
                </a:solidFill>
                <a:latin typeface="Calibri"/>
              </a:rPr>
              <a:t>SHA-3-256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18320" y="4114800"/>
            <a:ext cx="20116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i="0">
                <a:solidFill>
                  <a:srgbClr val="444A52"/>
                </a:solidFill>
                <a:latin typeface="Calibri"/>
              </a:rPr>
              <a:t>~12 000+ GE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31520" y="5120640"/>
            <a:ext cx="10698480" cy="1097280"/>
          </a:xfrm>
          <a:prstGeom prst="rect">
            <a:avLst/>
          </a:prstGeom>
          <a:solidFill>
            <a:srgbClr val="E8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731520" y="5120640"/>
            <a:ext cx="109728" cy="1097280"/>
          </a:xfrm>
          <a:prstGeom prst="rect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1005840" y="5230368"/>
            <a:ext cx="1014984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 i="0">
                <a:solidFill>
                  <a:srgbClr val="444A52"/>
                </a:solidFill>
                <a:latin typeface="Calibri"/>
              </a:rPr>
              <a:t>Kelishuv (trade-off):  Yengil vaznli funksiyalar tezlikda yutqazadi, lekin apparat resurslarida (GE, energiya) sezilarli yutadi — bu IoT qurilmalari uchun hal qiluvchi.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1C6E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0"/>
            <a:ext cx="1005840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Ishlab chiqilgan dasturiy ta'minot</a:t>
            </a:r>
          </a:p>
        </p:txBody>
      </p:sp>
      <p:sp>
        <p:nvSpPr>
          <p:cNvPr id="6" name="Rectangle 5"/>
          <p:cNvSpPr/>
          <p:nvPr/>
        </p:nvSpPr>
        <p:spPr>
          <a:xfrm>
            <a:off x="11247120" y="292608"/>
            <a:ext cx="457200" cy="457200"/>
          </a:xfrm>
          <a:prstGeom prst="rect">
            <a:avLst/>
          </a:prstGeom>
          <a:solidFill>
            <a:srgbClr val="1C6E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247120" y="292608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2588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0F2C4A"/>
                </a:solidFill>
                <a:latin typeface="Calibri"/>
              </a:rPr>
              <a:t>Xesh funksiyalarni solishtirma tahlil qiluvchi dasturiy vosita ishlab chiqildi: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011680"/>
            <a:ext cx="10698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 b="1">
                <a:solidFill>
                  <a:srgbClr val="1C6EA4"/>
                </a:solidFill>
                <a:latin typeface="Calibri"/>
              </a:rPr>
              <a:t>▸  </a:t>
            </a:r>
            <a:r>
              <a:rPr sz="1800">
                <a:solidFill>
                  <a:srgbClr val="444A52"/>
                </a:solidFill>
                <a:latin typeface="Calibri"/>
              </a:rPr>
              <a:t>Turli xesh funksiyalar uchun digest hisoblash moduli;</a:t>
            </a:r>
          </a:p>
          <a:p>
            <a:pPr algn="l">
              <a:spcAft>
                <a:spcPts val="1300"/>
              </a:spcAft>
            </a:pPr>
            <a:r>
              <a:rPr sz="1800" b="1">
                <a:solidFill>
                  <a:srgbClr val="1C6EA4"/>
                </a:solidFill>
                <a:latin typeface="Calibri"/>
              </a:rPr>
              <a:t>▸  </a:t>
            </a:r>
            <a:r>
              <a:rPr sz="1800">
                <a:solidFill>
                  <a:srgbClr val="444A52"/>
                </a:solidFill>
                <a:latin typeface="Calibri"/>
              </a:rPr>
              <a:t>Avalanche effektini o'lchash va vizualizatsiya qilish;</a:t>
            </a:r>
          </a:p>
          <a:p>
            <a:pPr algn="l">
              <a:spcAft>
                <a:spcPts val="1300"/>
              </a:spcAft>
            </a:pPr>
            <a:r>
              <a:rPr sz="1800" b="1">
                <a:solidFill>
                  <a:srgbClr val="1C6EA4"/>
                </a:solidFill>
                <a:latin typeface="Calibri"/>
              </a:rPr>
              <a:t>▸  </a:t>
            </a:r>
            <a:r>
              <a:rPr sz="1800">
                <a:solidFill>
                  <a:srgbClr val="444A52"/>
                </a:solidFill>
                <a:latin typeface="Calibri"/>
              </a:rPr>
              <a:t>Tezlik (MB/s) va bir amal vaqtini o'lchash;</a:t>
            </a:r>
          </a:p>
          <a:p>
            <a:pPr algn="l">
              <a:spcAft>
                <a:spcPts val="1300"/>
              </a:spcAft>
            </a:pPr>
            <a:r>
              <a:rPr sz="1800" b="1">
                <a:solidFill>
                  <a:srgbClr val="1C6EA4"/>
                </a:solidFill>
                <a:latin typeface="Calibri"/>
              </a:rPr>
              <a:t>▸  </a:t>
            </a:r>
            <a:r>
              <a:rPr sz="1800">
                <a:solidFill>
                  <a:srgbClr val="444A52"/>
                </a:solidFill>
                <a:latin typeface="Calibri"/>
              </a:rPr>
              <a:t>Solishtirma diagrammalar va jadvallar generatsiyasi.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38912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0F2C4A"/>
                </a:solidFill>
                <a:latin typeface="Calibri"/>
              </a:rPr>
              <a:t>Yakuniy baholash: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4937760"/>
            <a:ext cx="35204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1E8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" y="5074920"/>
            <a:ext cx="3520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 i="0">
                <a:solidFill>
                  <a:srgbClr val="0F2C4A"/>
                </a:solidFill>
                <a:latin typeface="Calibri"/>
              </a:rPr>
              <a:t>Ascon-Hash256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486400"/>
            <a:ext cx="35204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1" i="0">
                <a:solidFill>
                  <a:srgbClr val="1E8E5A"/>
                </a:solidFill>
                <a:latin typeface="Calibri"/>
              </a:rPr>
              <a:t>5/5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43983" y="4937760"/>
            <a:ext cx="35204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1C6E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443983" y="5074920"/>
            <a:ext cx="3520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 i="0">
                <a:solidFill>
                  <a:srgbClr val="0F2C4A"/>
                </a:solidFill>
                <a:latin typeface="Calibri"/>
              </a:rPr>
              <a:t>PHOTON-Beetle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43983" y="5486400"/>
            <a:ext cx="35204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1" i="0">
                <a:solidFill>
                  <a:srgbClr val="1C6EA4"/>
                </a:solidFill>
                <a:latin typeface="Calibri"/>
              </a:rPr>
              <a:t>4/5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56446" y="4937760"/>
            <a:ext cx="35204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1C6E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156446" y="5074920"/>
            <a:ext cx="3520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 i="0">
                <a:solidFill>
                  <a:srgbClr val="0F2C4A"/>
                </a:solidFill>
                <a:latin typeface="Calibri"/>
              </a:rPr>
              <a:t>SPONGENT-128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56446" y="5486400"/>
            <a:ext cx="35204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1" i="0">
                <a:solidFill>
                  <a:srgbClr val="1C6EA4"/>
                </a:solidFill>
                <a:latin typeface="Calibri"/>
              </a:rPr>
              <a:t>4/5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1C6E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0"/>
            <a:ext cx="1005840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Xulosa</a:t>
            </a:r>
          </a:p>
        </p:txBody>
      </p:sp>
      <p:sp>
        <p:nvSpPr>
          <p:cNvPr id="6" name="Rectangle 5"/>
          <p:cNvSpPr/>
          <p:nvPr/>
        </p:nvSpPr>
        <p:spPr>
          <a:xfrm>
            <a:off x="11247120" y="292608"/>
            <a:ext cx="457200" cy="457200"/>
          </a:xfrm>
          <a:prstGeom prst="rect">
            <a:avLst/>
          </a:prstGeom>
          <a:solidFill>
            <a:srgbClr val="1C6E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247120" y="292608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00"/>
              </a:spcAft>
            </a:pPr>
            <a:r>
              <a:rPr sz="1900" b="1">
                <a:solidFill>
                  <a:srgbClr val="1C6EA4"/>
                </a:solidFill>
                <a:latin typeface="Calibri"/>
              </a:rPr>
              <a:t>▸  </a:t>
            </a:r>
            <a:r>
              <a:rPr sz="1900">
                <a:solidFill>
                  <a:srgbClr val="444A52"/>
                </a:solidFill>
                <a:latin typeface="Calibri"/>
              </a:rPr>
              <a:t>Kriptografik himoya va ma'lumot butunligini ta'minlash usullari o'rganildi;</a:t>
            </a:r>
          </a:p>
          <a:p>
            <a:pPr algn="l">
              <a:spcAft>
                <a:spcPts val="1600"/>
              </a:spcAft>
            </a:pPr>
            <a:r>
              <a:rPr sz="1900" b="1">
                <a:solidFill>
                  <a:srgbClr val="1C6EA4"/>
                </a:solidFill>
                <a:latin typeface="Calibri"/>
              </a:rPr>
              <a:t>▸  </a:t>
            </a:r>
            <a:r>
              <a:rPr sz="1900">
                <a:solidFill>
                  <a:srgbClr val="444A52"/>
                </a:solidFill>
                <a:latin typeface="Calibri"/>
              </a:rPr>
              <a:t>An'anaviy va yengil vaznli xesh funksiyalar tasnifi tahlil qilindi;</a:t>
            </a:r>
          </a:p>
          <a:p>
            <a:pPr algn="l">
              <a:spcAft>
                <a:spcPts val="1600"/>
              </a:spcAft>
            </a:pPr>
            <a:r>
              <a:rPr sz="1900" b="1">
                <a:solidFill>
                  <a:srgbClr val="1C6EA4"/>
                </a:solidFill>
                <a:latin typeface="Calibri"/>
              </a:rPr>
              <a:t>▸  </a:t>
            </a:r>
            <a:r>
              <a:rPr sz="1900">
                <a:solidFill>
                  <a:srgbClr val="444A52"/>
                </a:solidFill>
                <a:latin typeface="Calibri"/>
              </a:rPr>
              <a:t>Ascon, PHOTON, SPONGENT algoritmlari batafsil ko'rib chiqildi;</a:t>
            </a:r>
          </a:p>
          <a:p>
            <a:pPr algn="l">
              <a:spcAft>
                <a:spcPts val="1600"/>
              </a:spcAft>
            </a:pPr>
            <a:r>
              <a:rPr sz="1900" b="1">
                <a:solidFill>
                  <a:srgbClr val="1C6EA4"/>
                </a:solidFill>
                <a:latin typeface="Calibri"/>
              </a:rPr>
              <a:t>▸  </a:t>
            </a:r>
            <a:r>
              <a:rPr sz="1900">
                <a:solidFill>
                  <a:srgbClr val="444A52"/>
                </a:solidFill>
                <a:latin typeface="Calibri"/>
              </a:rPr>
              <a:t>Avalanche, tezlik va resurs sarfi bo'yicha solishtirma tahlil o'tkazildi;</a:t>
            </a:r>
          </a:p>
          <a:p>
            <a:pPr algn="l">
              <a:spcAft>
                <a:spcPts val="1600"/>
              </a:spcAft>
            </a:pPr>
            <a:r>
              <a:rPr sz="1900" b="1">
                <a:solidFill>
                  <a:srgbClr val="1C6EA4"/>
                </a:solidFill>
                <a:latin typeface="Calibri"/>
              </a:rPr>
              <a:t>▸  </a:t>
            </a:r>
            <a:r>
              <a:rPr sz="1900">
                <a:solidFill>
                  <a:srgbClr val="444A52"/>
                </a:solidFill>
                <a:latin typeface="Calibri"/>
              </a:rPr>
              <a:t>Solishtirma dasturiy ta'minot ishlab chiqildi.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5029200"/>
            <a:ext cx="10698480" cy="1188720"/>
          </a:xfrm>
          <a:prstGeom prst="rect">
            <a:avLst/>
          </a:prstGeom>
          <a:solidFill>
            <a:srgbClr val="0F2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5138928"/>
            <a:ext cx="1014984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Asosiy xulosa:  Ascon-Hash256 — kriptografik mustahkamlik, apparat samaradorligi va IoT mosligi bo'yicha eng optimal yechim (5/5).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1C6E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0"/>
            <a:ext cx="1005840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Foydalanilgan adabiyotlar</a:t>
            </a:r>
          </a:p>
        </p:txBody>
      </p:sp>
      <p:sp>
        <p:nvSpPr>
          <p:cNvPr id="6" name="Rectangle 5"/>
          <p:cNvSpPr/>
          <p:nvPr/>
        </p:nvSpPr>
        <p:spPr>
          <a:xfrm>
            <a:off x="11247120" y="292608"/>
            <a:ext cx="457200" cy="457200"/>
          </a:xfrm>
          <a:prstGeom prst="rect">
            <a:avLst/>
          </a:prstGeom>
          <a:solidFill>
            <a:srgbClr val="1C6E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247120" y="292608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53949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400">
                <a:solidFill>
                  <a:srgbClr val="444A52"/>
                </a:solidFill>
                <a:latin typeface="Calibri"/>
              </a:rPr>
              <a:t>1. O'zR Prezidenti Farmoni «O'zbekiston-2030 strategiyasi», PF-158, 2023.</a:t>
            </a:r>
          </a:p>
          <a:p>
            <a:pPr algn="l">
              <a:spcAft>
                <a:spcPts val="1200"/>
              </a:spcAft>
            </a:pPr>
            <a:r>
              <a:rPr sz="1400">
                <a:solidFill>
                  <a:srgbClr val="444A52"/>
                </a:solidFill>
                <a:latin typeface="Calibri"/>
              </a:rPr>
              <a:t>2. O'zR Prezidenti Qarori «Kriptologiya sohasida ta'lim va ilm-fan», PQ-293, 2024.</a:t>
            </a:r>
          </a:p>
          <a:p>
            <a:pPr algn="l">
              <a:spcAft>
                <a:spcPts val="1200"/>
              </a:spcAft>
            </a:pPr>
            <a:r>
              <a:rPr sz="1400">
                <a:solidFill>
                  <a:srgbClr val="444A52"/>
                </a:solidFill>
                <a:latin typeface="Calibri"/>
              </a:rPr>
              <a:t>3. O'zR «Kiberxavfsizlik to'g'risida»gi Qonuni, O'RQ-764, 2022.</a:t>
            </a:r>
          </a:p>
          <a:p>
            <a:pPr algn="l">
              <a:spcAft>
                <a:spcPts val="1200"/>
              </a:spcAft>
            </a:pPr>
            <a:r>
              <a:rPr sz="1400">
                <a:solidFill>
                  <a:srgbClr val="444A52"/>
                </a:solidFill>
                <a:latin typeface="Calibri"/>
              </a:rPr>
              <a:t>4. Menezes A., van Oorschot P., Vanstone S. Handbook of Applied Cryptography. CRC Press, 1996.</a:t>
            </a:r>
          </a:p>
          <a:p>
            <a:pPr algn="l">
              <a:spcAft>
                <a:spcPts val="1200"/>
              </a:spcAft>
            </a:pPr>
            <a:r>
              <a:rPr sz="1400">
                <a:solidFill>
                  <a:srgbClr val="444A52"/>
                </a:solidFill>
                <a:latin typeface="Calibri"/>
              </a:rPr>
              <a:t>5. Stallings W. Cryptography and Network Security. 8th ed. Pearson, 2020.</a:t>
            </a:r>
          </a:p>
          <a:p>
            <a:pPr algn="l">
              <a:spcAft>
                <a:spcPts val="1200"/>
              </a:spcAft>
            </a:pPr>
            <a:r>
              <a:rPr sz="1400">
                <a:solidFill>
                  <a:srgbClr val="444A52"/>
                </a:solidFill>
                <a:latin typeface="Calibri"/>
              </a:rPr>
              <a:t>6. Diffie W., Hellman M. New Directions in Cryptography // IEEE Trans. Inf. Theory, 1976.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371600"/>
            <a:ext cx="53949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400">
                <a:solidFill>
                  <a:srgbClr val="444A52"/>
                </a:solidFill>
                <a:latin typeface="Calibri"/>
              </a:rPr>
              <a:t>7. NIST. Lightweight Cryptography: NIST Selects Ascon. NIST IR 8454, 2023.</a:t>
            </a:r>
          </a:p>
          <a:p>
            <a:pPr algn="l">
              <a:spcAft>
                <a:spcPts val="1200"/>
              </a:spcAft>
            </a:pPr>
            <a:r>
              <a:rPr sz="1400">
                <a:solidFill>
                  <a:srgbClr val="444A52"/>
                </a:solidFill>
                <a:latin typeface="Calibri"/>
              </a:rPr>
              <a:t>8. NIST. FIPS 186-5: Digital Signature Standard (DSS), 2023.</a:t>
            </a:r>
          </a:p>
          <a:p>
            <a:pPr algn="l">
              <a:spcAft>
                <a:spcPts val="1200"/>
              </a:spcAft>
            </a:pPr>
            <a:r>
              <a:rPr sz="1400">
                <a:solidFill>
                  <a:srgbClr val="444A52"/>
                </a:solidFill>
                <a:latin typeface="Calibri"/>
              </a:rPr>
              <a:t>9. NIST. FIPS 180-4: Secure Hash Standard (SHS), 2015.</a:t>
            </a:r>
          </a:p>
          <a:p>
            <a:pPr algn="l">
              <a:spcAft>
                <a:spcPts val="1200"/>
              </a:spcAft>
            </a:pPr>
            <a:r>
              <a:rPr sz="1400">
                <a:solidFill>
                  <a:srgbClr val="444A52"/>
                </a:solidFill>
                <a:latin typeface="Calibri"/>
              </a:rPr>
              <a:t>10. NIST. FIPS 202: SHA-3 Standard, 2015.</a:t>
            </a:r>
          </a:p>
          <a:p>
            <a:pPr algn="l">
              <a:spcAft>
                <a:spcPts val="1200"/>
              </a:spcAft>
            </a:pPr>
            <a:r>
              <a:rPr sz="1400">
                <a:solidFill>
                  <a:srgbClr val="444A52"/>
                </a:solidFill>
                <a:latin typeface="Calibri"/>
              </a:rPr>
              <a:t>11. ISO/IEC 9797-1:2011. Message Authentication Codes (MACs) — Part 1.</a:t>
            </a:r>
          </a:p>
          <a:p>
            <a:pPr algn="l">
              <a:spcAft>
                <a:spcPts val="1200"/>
              </a:spcAft>
            </a:pPr>
            <a:r>
              <a:rPr sz="1400">
                <a:solidFill>
                  <a:srgbClr val="444A52"/>
                </a:solidFill>
                <a:latin typeface="Calibri"/>
              </a:rPr>
              <a:t>12. Bellare M., Canetti R., Krawczyk H. Keying Hash Functions for Message Authentication. CRYPTO '96.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91695" cy="1371600"/>
          </a:xfrm>
          <a:prstGeom prst="rect">
            <a:avLst/>
          </a:prstGeom>
          <a:solidFill>
            <a:srgbClr val="1C6E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0" y="2743200"/>
            <a:ext cx="12191695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Calibri"/>
              </a:rPr>
              <a:t>E'tiboringiz uchun rahmat!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4572000"/>
            <a:ext cx="1219169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 i="0">
                <a:solidFill>
                  <a:srgbClr val="E8F1F8"/>
                </a:solidFill>
                <a:latin typeface="Calibri"/>
              </a:rPr>
              <a:t>Savollaringizga javob berishga tayyorman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5760720"/>
            <a:ext cx="1219169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 i="0">
                <a:solidFill>
                  <a:srgbClr val="AEC8DD"/>
                </a:solidFill>
                <a:latin typeface="Calibri"/>
              </a:rPr>
              <a:t>Axmadxo'jayev Abbosxon  •  Toshkent –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1050</Words>
  <Application>Microsoft Office PowerPoint</Application>
  <PresentationFormat>Широкоэкранный</PresentationFormat>
  <Paragraphs>180</Paragraphs>
  <Slides>13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Abbosxon Ahmadxo'jayev</cp:lastModifiedBy>
  <cp:revision>2</cp:revision>
  <dcterms:created xsi:type="dcterms:W3CDTF">2013-01-27T09:14:16Z</dcterms:created>
  <dcterms:modified xsi:type="dcterms:W3CDTF">2026-06-18T14:13:07Z</dcterms:modified>
  <cp:category/>
</cp:coreProperties>
</file>