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60" r:id="rId4"/>
    <p:sldId id="261" r:id="rId5"/>
    <p:sldId id="259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629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E8F1F8"/>
                </a:solidFill>
                <a:latin typeface="Calibri"/>
              </a:rPr>
              <a:t>MUHAMMAD AL-XORAZMIY NOMIDAGI TOSHKENT AXBOROT</a:t>
            </a:r>
          </a:p>
          <a:p>
            <a:pPr algn="ctr"/>
            <a:r>
              <a:rPr sz="1400" b="1" i="0">
                <a:solidFill>
                  <a:srgbClr val="E8F1F8"/>
                </a:solidFill>
                <a:latin typeface="Calibri"/>
              </a:rPr>
              <a:t>TEXNOLOGIYALARI UNIVERSITETI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AEC8DD"/>
                </a:solidFill>
                <a:latin typeface="Calibri"/>
              </a:rPr>
              <a:t>Kiberxavfsizlik fakulteti  •  Kriptologiya kafedrasi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331720"/>
            <a:ext cx="9418320" cy="54864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DIPLOM LOYIHASI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51760"/>
            <a:ext cx="10332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Yengil vaznli kriptografik xesh</a:t>
            </a:r>
          </a:p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funksiyalarning tahlili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4297680"/>
            <a:ext cx="9418320" cy="54864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470916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 i="0">
                <a:solidFill>
                  <a:srgbClr val="E8F1F8"/>
                </a:solidFill>
                <a:latin typeface="Calibri"/>
              </a:rPr>
              <a:t>Bajardi:  Axmadxo'jayev Abbosxon Akmalxon o'g'li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1208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0">
                <a:solidFill>
                  <a:srgbClr val="AEC8DD"/>
                </a:solidFill>
                <a:latin typeface="Calibri"/>
              </a:rPr>
              <a:t>Ilmiy rahbar:  Olimov I.S.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Toshkent –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Mavzuning dolzarbligi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47120" y="351931"/>
            <a:ext cx="45720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2</a:t>
            </a:r>
            <a:endParaRPr sz="16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IoT (Narsalar interneti) qurilmalari soni keskin o'smoqda — milliardlab sensor va RFID teglar.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Bunday qurilmalar resurslari cheklangan: kam quvvat, kichik xotira, past hisoblash imkoniyati.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An'anaviy xesh funksiyalar (SHA-256, SHA-3) bunday qurilmalar uchun og'irlik qiladi.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Yengil vaznli (lightweight) kriptografiya — zamonaviy axborot xavfsizligining ustuvor yo'nalishi.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NIST 2023-yilda Ascon algoritmini yengil vaznli kriptografiya standarti sifatida tanladi.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754880"/>
            <a:ext cx="10698480" cy="146304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" y="4754880"/>
            <a:ext cx="109728" cy="146304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892040"/>
            <a:ext cx="10149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444A52"/>
                </a:solidFill>
                <a:latin typeface="Calibri"/>
              </a:rPr>
              <a:t>Normativ asos:</a:t>
            </a:r>
          </a:p>
          <a:p>
            <a:pPr algn="l"/>
            <a:r>
              <a:rPr sz="1500" b="0" i="0">
                <a:solidFill>
                  <a:srgbClr val="444A52"/>
                </a:solidFill>
                <a:latin typeface="Calibri"/>
              </a:rPr>
              <a:t>• O'zbekiston-2030 strategiyasi (PF-158, 2023)</a:t>
            </a:r>
          </a:p>
          <a:p>
            <a:pPr algn="l"/>
            <a:r>
              <a:rPr sz="1500" b="0" i="0">
                <a:solidFill>
                  <a:srgbClr val="444A52"/>
                </a:solidFill>
                <a:latin typeface="Calibri"/>
              </a:rPr>
              <a:t>• Kriptologiya sohasini rivojlantirish (PQ-293, 2024)  •  «Kiberxavfsizlik to'g'risida»gi Qonun (O'RQ-764, 2022)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Maqsad va vazifalar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47120" y="351931"/>
            <a:ext cx="45720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3</a:t>
            </a:r>
            <a:endParaRPr sz="16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10698480" cy="109728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1508760"/>
            <a:ext cx="101498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Maqsad:  Yengil vaznli kriptografik xesh funksiyalarni tahlil qilish, ularning samaradorligini baholash va solishtirma dasturiy vositani ishlab chiqish.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974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0F2C4A"/>
                </a:solidFill>
                <a:latin typeface="Calibri"/>
              </a:rPr>
              <a:t>Vazifalar: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00400"/>
            <a:ext cx="10698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Axborotlarni kriptografik himoyalash va butunlikni ta'minlash usullarini o'rganish;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An'anaviy va yengil vaznli xesh funksiyalar tasnifini tahlil qilish;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Ascon, PHOTON, SPONGENT algoritmlarining tuzilishini o'rganish;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Avalanche effekti, tezlik va resurs sarfi bo'yicha solishtirma tahlil o'tkazish;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Solishtirma natijalarni ko'rsatuvchi dasturiy ta'minot ishlab chiqish.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79559"/>
            <a:ext cx="10058400" cy="4924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2600" b="1" dirty="0" err="1">
                <a:solidFill>
                  <a:srgbClr val="FFFFFF"/>
                </a:solidFill>
                <a:latin typeface="Calibri"/>
              </a:rPr>
              <a:t>Xesh</a:t>
            </a:r>
            <a:r>
              <a:rPr lang="en-US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Calibri"/>
              </a:rPr>
              <a:t>funksiya</a:t>
            </a:r>
            <a:r>
              <a:rPr lang="en-US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Calibri"/>
              </a:rPr>
              <a:t>o’zi</a:t>
            </a:r>
            <a:r>
              <a:rPr lang="en-US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Calibri"/>
              </a:rPr>
              <a:t>nima</a:t>
            </a:r>
            <a:r>
              <a:rPr lang="en-US" sz="2600" b="1" dirty="0">
                <a:solidFill>
                  <a:srgbClr val="FFFFFF"/>
                </a:solidFill>
                <a:latin typeface="Calibri"/>
              </a:rPr>
              <a:t>?</a:t>
            </a:r>
            <a:endParaRPr sz="26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47120" y="351931"/>
            <a:ext cx="45720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4</a:t>
            </a:r>
            <a:endParaRPr sz="16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dirty="0" err="1">
                <a:solidFill>
                  <a:srgbClr val="444A52"/>
                </a:solidFill>
                <a:latin typeface="Calibri"/>
              </a:rPr>
              <a:t>Xesh</a:t>
            </a:r>
            <a:r>
              <a:rPr sz="1700" b="0" i="0" dirty="0">
                <a:solidFill>
                  <a:srgbClr val="444A52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444A52"/>
                </a:solidFill>
                <a:latin typeface="Calibri"/>
              </a:rPr>
              <a:t>funksiya</a:t>
            </a:r>
            <a:r>
              <a:rPr sz="1700" b="0" i="0" dirty="0">
                <a:solidFill>
                  <a:srgbClr val="444A52"/>
                </a:solidFill>
                <a:latin typeface="Calibri"/>
              </a:rPr>
              <a:t> — </a:t>
            </a:r>
            <a:r>
              <a:rPr sz="1700" b="0" i="0" dirty="0" err="1">
                <a:solidFill>
                  <a:srgbClr val="444A52"/>
                </a:solidFill>
                <a:latin typeface="Calibri"/>
              </a:rPr>
              <a:t>ixtiyoriy</a:t>
            </a:r>
            <a:r>
              <a:rPr sz="1700" b="0" i="0" dirty="0">
                <a:solidFill>
                  <a:srgbClr val="444A52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444A52"/>
                </a:solidFill>
                <a:latin typeface="Calibri"/>
              </a:rPr>
              <a:t>uzunlikdagi</a:t>
            </a:r>
            <a:r>
              <a:rPr sz="1700" b="0" i="0" dirty="0">
                <a:solidFill>
                  <a:srgbClr val="444A52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444A52"/>
                </a:solidFill>
                <a:latin typeface="Calibri"/>
              </a:rPr>
              <a:t>ma'lumotni</a:t>
            </a:r>
            <a:r>
              <a:rPr sz="1700" b="0" i="0" dirty="0">
                <a:solidFill>
                  <a:srgbClr val="444A52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444A52"/>
                </a:solidFill>
                <a:latin typeface="Calibri"/>
              </a:rPr>
              <a:t>belgilangan</a:t>
            </a:r>
            <a:r>
              <a:rPr sz="1700" b="0" i="0" dirty="0">
                <a:solidFill>
                  <a:srgbClr val="444A52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444A52"/>
                </a:solidFill>
                <a:latin typeface="Calibri"/>
              </a:rPr>
              <a:t>o'lchamli</a:t>
            </a:r>
            <a:r>
              <a:rPr sz="1700" b="0" i="0" dirty="0">
                <a:solidFill>
                  <a:srgbClr val="444A52"/>
                </a:solidFill>
                <a:latin typeface="Calibri"/>
              </a:rPr>
              <a:t> (digest) </a:t>
            </a:r>
            <a:r>
              <a:rPr sz="1700" b="0" i="0" dirty="0" err="1">
                <a:solidFill>
                  <a:srgbClr val="444A52"/>
                </a:solidFill>
                <a:latin typeface="Calibri"/>
              </a:rPr>
              <a:t>qiymatga</a:t>
            </a:r>
            <a:r>
              <a:rPr sz="1700" b="0" i="0" dirty="0">
                <a:solidFill>
                  <a:srgbClr val="444A52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444A52"/>
                </a:solidFill>
                <a:latin typeface="Calibri"/>
              </a:rPr>
              <a:t>aylantiruvchi</a:t>
            </a:r>
            <a:r>
              <a:rPr sz="1700" b="0" i="0" dirty="0">
                <a:solidFill>
                  <a:srgbClr val="444A52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444A52"/>
                </a:solidFill>
                <a:latin typeface="Calibri"/>
              </a:rPr>
              <a:t>bir</a:t>
            </a:r>
            <a:r>
              <a:rPr sz="1700" b="0" i="0" dirty="0">
                <a:solidFill>
                  <a:srgbClr val="444A52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444A52"/>
                </a:solidFill>
                <a:latin typeface="Calibri"/>
              </a:rPr>
              <a:t>tomonlama</a:t>
            </a:r>
            <a:r>
              <a:rPr sz="1700" b="0" i="0" dirty="0">
                <a:solidFill>
                  <a:srgbClr val="444A52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444A52"/>
                </a:solidFill>
                <a:latin typeface="Calibri"/>
              </a:rPr>
              <a:t>funksiya</a:t>
            </a:r>
            <a:r>
              <a:rPr sz="1700" b="0" i="0" dirty="0">
                <a:solidFill>
                  <a:srgbClr val="444A52"/>
                </a:solidFill>
                <a:latin typeface="Calibri"/>
              </a:rPr>
              <a:t>:  H: {0,1}* → {0,1}ⁿ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0F2C4A"/>
                </a:solidFill>
                <a:latin typeface="Calibri"/>
              </a:rPr>
              <a:t>Asosiy xavfsizlik talablari: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1C6EA4"/>
                </a:solidFill>
                <a:latin typeface="Calibri"/>
              </a:rPr>
              <a:t>▸  </a:t>
            </a:r>
            <a:r>
              <a:rPr sz="1700">
                <a:solidFill>
                  <a:srgbClr val="444A52"/>
                </a:solidFill>
                <a:latin typeface="Calibri"/>
              </a:rPr>
              <a:t>Bir tomonlilik (preimage resistance) — xeshdan asl ma'lumotni tiklab bo'lmaydi;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1C6EA4"/>
                </a:solidFill>
                <a:latin typeface="Calibri"/>
              </a:rPr>
              <a:t>▸  </a:t>
            </a:r>
            <a:r>
              <a:rPr sz="1700">
                <a:solidFill>
                  <a:srgbClr val="444A52"/>
                </a:solidFill>
                <a:latin typeface="Calibri"/>
              </a:rPr>
              <a:t>Ikkinchi preimage qarshiligi — bir xil xeshli boshqa xabar topib bo'lmaydi;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1C6EA4"/>
                </a:solidFill>
                <a:latin typeface="Calibri"/>
              </a:rPr>
              <a:t>▸  </a:t>
            </a:r>
            <a:r>
              <a:rPr sz="1700">
                <a:solidFill>
                  <a:srgbClr val="444A52"/>
                </a:solidFill>
                <a:latin typeface="Calibri"/>
              </a:rPr>
              <a:t>To'qnashuvga qarshilik (collision resistance) — ikki xil xabar bir xil xesh bermaydi.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5262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0F2C4A"/>
                </a:solidFill>
                <a:latin typeface="Calibri"/>
              </a:rPr>
              <a:t>Qo'llanilishi: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5029200"/>
            <a:ext cx="2514600" cy="109728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31520" y="5029200"/>
            <a:ext cx="2514600" cy="9144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5120640"/>
            <a:ext cx="25146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0F2C4A"/>
                </a:solidFill>
                <a:latin typeface="Calibri"/>
              </a:rPr>
              <a:t>Xabar</a:t>
            </a:r>
          </a:p>
          <a:p>
            <a:pPr algn="ctr"/>
            <a:r>
              <a:rPr sz="1600" b="1" i="0">
                <a:solidFill>
                  <a:srgbClr val="0F2C4A"/>
                </a:solidFill>
                <a:latin typeface="Calibri"/>
              </a:rPr>
              <a:t>yaxlitligi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47288" y="5029200"/>
            <a:ext cx="2514600" cy="109728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447288" y="5029200"/>
            <a:ext cx="2514600" cy="9144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47288" y="5120640"/>
            <a:ext cx="25146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0F2C4A"/>
                </a:solidFill>
                <a:latin typeface="Calibri"/>
              </a:rPr>
              <a:t>Raqamli</a:t>
            </a:r>
          </a:p>
          <a:p>
            <a:pPr algn="ctr"/>
            <a:r>
              <a:rPr sz="1600" b="1" i="0">
                <a:solidFill>
                  <a:srgbClr val="0F2C4A"/>
                </a:solidFill>
                <a:latin typeface="Calibri"/>
              </a:rPr>
              <a:t>imzo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63056" y="5029200"/>
            <a:ext cx="2514600" cy="109728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63056" y="5029200"/>
            <a:ext cx="2514600" cy="9144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63056" y="5120640"/>
            <a:ext cx="25146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0F2C4A"/>
                </a:solidFill>
                <a:latin typeface="Calibri"/>
              </a:rPr>
              <a:t>Parol</a:t>
            </a:r>
          </a:p>
          <a:p>
            <a:pPr algn="ctr"/>
            <a:r>
              <a:rPr sz="1600" b="1" i="0">
                <a:solidFill>
                  <a:srgbClr val="0F2C4A"/>
                </a:solidFill>
                <a:latin typeface="Calibri"/>
              </a:rPr>
              <a:t>saqlash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78824" y="5029200"/>
            <a:ext cx="2514600" cy="109728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878824" y="5029200"/>
            <a:ext cx="2514600" cy="9144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878824" y="5120640"/>
            <a:ext cx="25146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0F2C4A"/>
                </a:solidFill>
                <a:latin typeface="Calibri"/>
              </a:rPr>
              <a:t>Xesh</a:t>
            </a:r>
          </a:p>
          <a:p>
            <a:pPr algn="ctr"/>
            <a:r>
              <a:rPr sz="1600" b="1" i="0">
                <a:solidFill>
                  <a:srgbClr val="0F2C4A"/>
                </a:solidFill>
                <a:latin typeface="Calibri"/>
              </a:rPr>
              <a:t>jadvallar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Muammoning qo'yilishi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47120" y="351931"/>
            <a:ext cx="45720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5</a:t>
            </a:r>
            <a:endParaRPr sz="16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0F2C4A"/>
                </a:solidFill>
                <a:latin typeface="Calibri"/>
              </a:rPr>
              <a:t>Resurslari cheklangan qurilmalarda xavfsizlik va samaradorlik o'rtasidagi ziddiyat: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03120"/>
            <a:ext cx="5120640" cy="356616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28600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1C6EA4"/>
                </a:solidFill>
                <a:latin typeface="Calibri"/>
              </a:rPr>
              <a:t>An'anaviy xesh funksiyalar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3464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1C6EA4"/>
                </a:solidFill>
                <a:latin typeface="Calibri"/>
              </a:rPr>
              <a:t>▸  </a:t>
            </a:r>
            <a:r>
              <a:rPr sz="1600">
                <a:solidFill>
                  <a:srgbClr val="444A52"/>
                </a:solidFill>
                <a:latin typeface="Calibri"/>
              </a:rPr>
              <a:t>Yuqori xavfsizlik darajasi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C6EA4"/>
                </a:solidFill>
                <a:latin typeface="Calibri"/>
              </a:rPr>
              <a:t>▸  </a:t>
            </a:r>
            <a:r>
              <a:rPr sz="1600">
                <a:solidFill>
                  <a:srgbClr val="444A52"/>
                </a:solidFill>
                <a:latin typeface="Calibri"/>
              </a:rPr>
              <a:t>Katta gate ekvivalenti (10 000+ GE)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C6EA4"/>
                </a:solidFill>
                <a:latin typeface="Calibri"/>
              </a:rPr>
              <a:t>▸  </a:t>
            </a:r>
            <a:r>
              <a:rPr sz="1600">
                <a:solidFill>
                  <a:srgbClr val="444A52"/>
                </a:solidFill>
                <a:latin typeface="Calibri"/>
              </a:rPr>
              <a:t>Ko'p xotira va quvvat talab qiladi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C6EA4"/>
                </a:solidFill>
                <a:latin typeface="Calibri"/>
              </a:rPr>
              <a:t>▸  </a:t>
            </a:r>
            <a:r>
              <a:rPr sz="1600">
                <a:solidFill>
                  <a:srgbClr val="444A52"/>
                </a:solidFill>
                <a:latin typeface="Calibri"/>
              </a:rPr>
              <a:t>IoT qurilmalari uchun mos emas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103120"/>
            <a:ext cx="5120640" cy="35661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28600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E8F1F8"/>
                </a:solidFill>
                <a:latin typeface="Calibri"/>
              </a:rPr>
              <a:t>Yengil vaznli xesh funksiyalar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83464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6FB5E0"/>
                </a:solidFill>
                <a:latin typeface="Calibri"/>
              </a:rPr>
              <a:t>▸  </a:t>
            </a:r>
            <a:r>
              <a:rPr sz="1600">
                <a:solidFill>
                  <a:srgbClr val="E8F1F8"/>
                </a:solidFill>
                <a:latin typeface="Calibri"/>
              </a:rPr>
              <a:t>Past resurs sarfi (1 300–3 700 GE)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6FB5E0"/>
                </a:solidFill>
                <a:latin typeface="Calibri"/>
              </a:rPr>
              <a:t>▸  </a:t>
            </a:r>
            <a:r>
              <a:rPr sz="1600">
                <a:solidFill>
                  <a:srgbClr val="E8F1F8"/>
                </a:solidFill>
                <a:latin typeface="Calibri"/>
              </a:rPr>
              <a:t>Kam xotira va energiya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6FB5E0"/>
                </a:solidFill>
                <a:latin typeface="Calibri"/>
              </a:rPr>
              <a:t>▸  </a:t>
            </a:r>
            <a:r>
              <a:rPr sz="1600">
                <a:solidFill>
                  <a:srgbClr val="E8F1F8"/>
                </a:solidFill>
                <a:latin typeface="Calibri"/>
              </a:rPr>
              <a:t>IoT, RFID, sensorlar uchun mos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6FB5E0"/>
                </a:solidFill>
                <a:latin typeface="Calibri"/>
              </a:rPr>
              <a:t>▸  </a:t>
            </a:r>
            <a:r>
              <a:rPr sz="1600">
                <a:solidFill>
                  <a:srgbClr val="E8F1F8"/>
                </a:solidFill>
                <a:latin typeface="Calibri"/>
              </a:rPr>
              <a:t>Standartlashtirish jarayoni davom etmoqda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Xesh funksiya konstruksiyalari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554480"/>
            <a:ext cx="3520440" cy="41148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1520" y="1554480"/>
            <a:ext cx="3520440" cy="82296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554480"/>
            <a:ext cx="32461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Merkle–Damgård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31089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Blokma-blok siqish funksiyasi.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SHA-1, SHA-2, MD5.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h_i = f(h_{i-1}, m_i)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43983" y="1554480"/>
            <a:ext cx="3520440" cy="41148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43983" y="1554480"/>
            <a:ext cx="3520440" cy="82296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81143" y="1554480"/>
            <a:ext cx="32461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Sponge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2583" y="2560320"/>
            <a:ext cx="31089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Absorbing + Squeezing.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SHA-3, Ascon, PHOTON,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SPONGENT. Moslashuvchan.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6446" y="1554480"/>
            <a:ext cx="3520440" cy="41148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56446" y="1554480"/>
            <a:ext cx="3520440" cy="8229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93606" y="1554480"/>
            <a:ext cx="32461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Blok-shifrga asoslangan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6" y="2560320"/>
            <a:ext cx="31089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Davies-Meyer,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Matyas-Meyer-Oseas,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Miyaguchi-Preneel.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436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1C6EA4"/>
                </a:solidFill>
                <a:latin typeface="Calibri"/>
              </a:rPr>
              <a:t>Yengil vaznli xesh funksiyalar asosan Sponge konstruksiyasi va yengil blok shifrlar (PRESENT, GIFT, SIMON) ustiga quriladi.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II BOB. Yengil vaznli xesh funksiyalar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554480"/>
            <a:ext cx="352044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E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1520" y="1554480"/>
            <a:ext cx="3520440" cy="9144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1554480"/>
            <a:ext cx="33375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Ascon-Hash256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697480"/>
            <a:ext cx="30175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NIST LWC standarti (2023)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256 bit • Sponge • 12 raund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~2 570 GE • 5-bit S-box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43983" y="1554480"/>
            <a:ext cx="352044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C6E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43983" y="1554480"/>
            <a:ext cx="3520440" cy="9144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35423" y="1554480"/>
            <a:ext cx="33375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PHOTON-Beetle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18303" y="2697480"/>
            <a:ext cx="30175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NIST LWC finalisti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256 bit • Beetle/Sponge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~3 700 GE • 4-bit S-box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6446" y="1554480"/>
            <a:ext cx="352044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F2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56446" y="1554480"/>
            <a:ext cx="3520440" cy="91440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47886" y="1554480"/>
            <a:ext cx="33375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SPONGENT-128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6" y="2697480"/>
            <a:ext cx="30175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ISO/IEC 29192-5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128 bit • Sponge • 70 raund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~1 340 GE • eng kichik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1">
                <a:solidFill>
                  <a:srgbClr val="444A52"/>
                </a:solidFill>
                <a:latin typeface="Calibri"/>
              </a:rPr>
              <a:t>Barchasi resurslari cheklangan IoT, RFID va sensorli tarmoqlar uchun mo'ljallangan.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Avalanche (ko'chki) effekti tahlili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>
                <a:solidFill>
                  <a:srgbClr val="444A52"/>
                </a:solidFill>
                <a:latin typeface="Calibri"/>
              </a:rPr>
              <a:t>Kirishdagi 1 bit o'zgarsa, chiqishning ~50% biti o'zgarishi kerak (ideal = 0.5).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2011680"/>
            <a:ext cx="3657600" cy="548640"/>
          </a:xfrm>
          <a:prstGeom prst="rect">
            <a:avLst/>
          </a:prstGeom>
          <a:solidFill>
            <a:srgbClr val="0F2C4A"/>
          </a:solidFill>
          <a:ln w="12700">
            <a:solidFill>
              <a:srgbClr val="0F2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71600" y="201168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Xesh funksiya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2011680"/>
            <a:ext cx="3200400" cy="548640"/>
          </a:xfrm>
          <a:prstGeom prst="rect">
            <a:avLst/>
          </a:prstGeom>
          <a:solidFill>
            <a:srgbClr val="0F2C4A"/>
          </a:solidFill>
          <a:ln w="12700">
            <a:solidFill>
              <a:srgbClr val="0F2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0" y="201168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Avalanche nisbati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011680"/>
            <a:ext cx="2560320" cy="548640"/>
          </a:xfrm>
          <a:prstGeom prst="rect">
            <a:avLst/>
          </a:prstGeom>
          <a:solidFill>
            <a:srgbClr val="0F2C4A"/>
          </a:solidFill>
          <a:ln w="12700">
            <a:solidFill>
              <a:srgbClr val="0F2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0" y="201168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Baho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2560320"/>
            <a:ext cx="365760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371600" y="256032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Ascon-Hash256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0" y="2560320"/>
            <a:ext cx="320040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0" y="256032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0.4998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2560320"/>
            <a:ext cx="256032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0" y="256032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Juda yaxshi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71600" y="3108960"/>
            <a:ext cx="3657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371600" y="310896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PHOTON-Beetle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0" y="3108960"/>
            <a:ext cx="3200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9200" y="310896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0.5003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3108960"/>
            <a:ext cx="25603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29600" y="310896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Juda yaxshi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0" y="3657600"/>
            <a:ext cx="365760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371600" y="365760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SPONGENT-128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0" y="3657600"/>
            <a:ext cx="320040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0" y="365760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0.4995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3657600"/>
            <a:ext cx="256032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29600" y="365760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Juda yaxshi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71600" y="4206240"/>
            <a:ext cx="3657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371600" y="420624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SHA-256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0" y="4206240"/>
            <a:ext cx="3200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029200" y="420624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0.5001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0" y="4206240"/>
            <a:ext cx="25603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229600" y="420624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Juda yaxshi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371600" y="4754880"/>
            <a:ext cx="365760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371600" y="475488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SHA-3-256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0" y="4754880"/>
            <a:ext cx="320040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029200" y="475488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0.4999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0" y="4754880"/>
            <a:ext cx="256032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229600" y="475488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Juda yaxshi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0" y="5303520"/>
            <a:ext cx="3657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371600" y="530352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BLAKE2s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0" y="5303520"/>
            <a:ext cx="3200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029200" y="530352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0.5002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9600" y="5303520"/>
            <a:ext cx="25603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229600" y="530352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Juda yaxshi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" y="608076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1E8E5A"/>
                </a:solidFill>
                <a:latin typeface="Calibri"/>
              </a:rPr>
              <a:t>Natija: barcha algoritmlar ideal avalanche qiymatiga juda yaqin — kriptografik mustahkamligi yuqori.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Tezlik va apparat resurslari tahlili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F2C4A"/>
                </a:solidFill>
                <a:latin typeface="Calibri"/>
              </a:rPr>
              <a:t>Dasturiy tezlik (MB/s)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371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444A52"/>
                </a:solidFill>
                <a:latin typeface="Calibri"/>
              </a:rPr>
              <a:t>BLAKE2s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94560" y="1856232"/>
            <a:ext cx="4389120" cy="274320"/>
          </a:xfrm>
          <a:prstGeom prst="rect">
            <a:avLst/>
          </a:prstGeom>
          <a:solidFill>
            <a:srgbClr val="444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23680" y="182880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444A52"/>
                </a:solidFill>
                <a:latin typeface="Calibri"/>
              </a:rPr>
              <a:t>180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286000"/>
            <a:ext cx="1371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444A52"/>
                </a:solidFill>
                <a:latin typeface="Calibri"/>
              </a:rPr>
              <a:t>SHA-256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94560" y="2313432"/>
            <a:ext cx="3657600" cy="274320"/>
          </a:xfrm>
          <a:prstGeom prst="rect">
            <a:avLst/>
          </a:prstGeom>
          <a:solidFill>
            <a:srgbClr val="444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92160" y="228600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444A52"/>
                </a:solidFill>
                <a:latin typeface="Calibri"/>
              </a:rPr>
              <a:t>150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743200"/>
            <a:ext cx="1371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444A52"/>
                </a:solidFill>
                <a:latin typeface="Calibri"/>
              </a:rPr>
              <a:t>SHA-3-256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0" y="2770632"/>
            <a:ext cx="2926080" cy="274320"/>
          </a:xfrm>
          <a:prstGeom prst="rect">
            <a:avLst/>
          </a:prstGeom>
          <a:solidFill>
            <a:srgbClr val="444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60640" y="274320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444A52"/>
                </a:solidFill>
                <a:latin typeface="Calibri"/>
              </a:rPr>
              <a:t>120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200400"/>
            <a:ext cx="1371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444A52"/>
                </a:solidFill>
                <a:latin typeface="Calibri"/>
              </a:rPr>
              <a:t>Ascon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4560" y="3227832"/>
            <a:ext cx="60960" cy="27432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295520" y="320040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444A52"/>
                </a:solidFill>
                <a:latin typeface="Calibri"/>
              </a:rPr>
              <a:t>2.5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657600"/>
            <a:ext cx="1371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444A52"/>
                </a:solidFill>
                <a:latin typeface="Calibri"/>
              </a:rPr>
              <a:t>PHOTON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94560" y="3685032"/>
            <a:ext cx="60000" cy="27432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294560" y="365760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444A52"/>
                </a:solidFill>
                <a:latin typeface="Calibri"/>
              </a:rPr>
              <a:t>0.03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114800"/>
            <a:ext cx="1371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444A52"/>
                </a:solidFill>
                <a:latin typeface="Calibri"/>
              </a:rPr>
              <a:t>SPONGENT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94560" y="4142232"/>
            <a:ext cx="60000" cy="27432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294560" y="411480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444A52"/>
                </a:solidFill>
                <a:latin typeface="Calibri"/>
              </a:rPr>
              <a:t>0.01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123444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F2C4A"/>
                </a:solidFill>
                <a:latin typeface="Calibri"/>
              </a:rPr>
              <a:t>Gate ekvivalenti (GE)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0" y="1828800"/>
            <a:ext cx="109728" cy="36576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812280" y="1828800"/>
            <a:ext cx="2560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444A52"/>
                </a:solidFill>
                <a:latin typeface="Calibri"/>
              </a:rPr>
              <a:t>SPONGENT-128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182880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E8E5A"/>
                </a:solidFill>
                <a:latin typeface="Calibri"/>
              </a:rPr>
              <a:t>~1 340 GE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0" y="2286000"/>
            <a:ext cx="109728" cy="36576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12280" y="2286000"/>
            <a:ext cx="2560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444A52"/>
                </a:solidFill>
                <a:latin typeface="Calibri"/>
              </a:rPr>
              <a:t>Ascon-Hash256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228600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E8E5A"/>
                </a:solidFill>
                <a:latin typeface="Calibri"/>
              </a:rPr>
              <a:t>~2 570 GE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0" y="2743200"/>
            <a:ext cx="109728" cy="36576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812280" y="2743200"/>
            <a:ext cx="2560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444A52"/>
                </a:solidFill>
                <a:latin typeface="Calibri"/>
              </a:rPr>
              <a:t>PHOTON-Beetle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274320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C6EA4"/>
                </a:solidFill>
                <a:latin typeface="Calibri"/>
              </a:rPr>
              <a:t>~3 700 GE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0" y="3200400"/>
            <a:ext cx="109728" cy="365760"/>
          </a:xfrm>
          <a:prstGeom prst="rect">
            <a:avLst/>
          </a:prstGeom>
          <a:solidFill>
            <a:srgbClr val="444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812280" y="3200400"/>
            <a:ext cx="2560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444A52"/>
                </a:solidFill>
                <a:latin typeface="Calibri"/>
              </a:rPr>
              <a:t>BLAKE2s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320040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444A52"/>
                </a:solidFill>
                <a:latin typeface="Calibri"/>
              </a:rPr>
              <a:t>~8 000 GE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0" y="3657600"/>
            <a:ext cx="109728" cy="365760"/>
          </a:xfrm>
          <a:prstGeom prst="rect">
            <a:avLst/>
          </a:prstGeom>
          <a:solidFill>
            <a:srgbClr val="444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812280" y="3657600"/>
            <a:ext cx="2560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444A52"/>
                </a:solidFill>
                <a:latin typeface="Calibri"/>
              </a:rPr>
              <a:t>SHA-256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18320" y="365760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444A52"/>
                </a:solidFill>
                <a:latin typeface="Calibri"/>
              </a:rPr>
              <a:t>~10 000+ GE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0" y="4114800"/>
            <a:ext cx="109728" cy="365760"/>
          </a:xfrm>
          <a:prstGeom prst="rect">
            <a:avLst/>
          </a:prstGeom>
          <a:solidFill>
            <a:srgbClr val="444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812280" y="4114800"/>
            <a:ext cx="2560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444A52"/>
                </a:solidFill>
                <a:latin typeface="Calibri"/>
              </a:rPr>
              <a:t>SHA-3-256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18320" y="411480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444A52"/>
                </a:solidFill>
                <a:latin typeface="Calibri"/>
              </a:rPr>
              <a:t>~12 000+ GE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5120640"/>
            <a:ext cx="10698480" cy="109728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731520" y="5120640"/>
            <a:ext cx="109728" cy="109728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1498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Kelishuv (trade-off):  Yengil vaznli funksiyalar tezlikda yutqazadi, lekin apparat resurslarida (GE, energiya) sezilarli yutadi — bu IoT qurilmalari uchun hal qiluvchi.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Ishlab chiqilgan dasturiy ta'minot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0F2C4A"/>
                </a:solidFill>
                <a:latin typeface="Calibri"/>
              </a:rPr>
              <a:t>Xesh funksiyalarni solishtirma tahlil qiluvchi dasturiy vosita ishlab chiqildi: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1168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Turli xesh funksiyalar uchun digest hisoblash moduli;</a:t>
            </a:r>
          </a:p>
          <a:p>
            <a:pPr algn="l">
              <a:spcAft>
                <a:spcPts val="13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Avalanche effektini o'lchash va vizualizatsiya qilish;</a:t>
            </a:r>
          </a:p>
          <a:p>
            <a:pPr algn="l">
              <a:spcAft>
                <a:spcPts val="13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Tezlik (MB/s) va bir amal vaqtini o'lchash;</a:t>
            </a:r>
          </a:p>
          <a:p>
            <a:pPr algn="l">
              <a:spcAft>
                <a:spcPts val="13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Solishtirma diagrammalar va jadvallar generatsiyasi.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0F2C4A"/>
                </a:solidFill>
                <a:latin typeface="Calibri"/>
              </a:rPr>
              <a:t>Yakuniy baholash: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937760"/>
            <a:ext cx="35204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5074920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0F2C4A"/>
                </a:solidFill>
                <a:latin typeface="Calibri"/>
              </a:rPr>
              <a:t>Ascon-Hash256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486400"/>
            <a:ext cx="3520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E8E5A"/>
                </a:solidFill>
                <a:latin typeface="Calibri"/>
              </a:rPr>
              <a:t>5/5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43983" y="4937760"/>
            <a:ext cx="35204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C6E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43983" y="5074920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0F2C4A"/>
                </a:solidFill>
                <a:latin typeface="Calibri"/>
              </a:rPr>
              <a:t>PHOTON-Beetle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3983" y="5486400"/>
            <a:ext cx="3520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C6EA4"/>
                </a:solidFill>
                <a:latin typeface="Calibri"/>
              </a:rPr>
              <a:t>4/5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56446" y="4937760"/>
            <a:ext cx="35204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C6E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56446" y="5074920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0F2C4A"/>
                </a:solidFill>
                <a:latin typeface="Calibri"/>
              </a:rPr>
              <a:t>SPONGENT-128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6446" y="5486400"/>
            <a:ext cx="3520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C6EA4"/>
                </a:solidFill>
                <a:latin typeface="Calibri"/>
              </a:rPr>
              <a:t>4/5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Xulosa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900" b="1">
                <a:solidFill>
                  <a:srgbClr val="1C6EA4"/>
                </a:solidFill>
                <a:latin typeface="Calibri"/>
              </a:rPr>
              <a:t>▸  </a:t>
            </a:r>
            <a:r>
              <a:rPr sz="1900">
                <a:solidFill>
                  <a:srgbClr val="444A52"/>
                </a:solidFill>
                <a:latin typeface="Calibri"/>
              </a:rPr>
              <a:t>Kriptografik himoya va ma'lumot butunligini ta'minlash usullari o'rganildi;</a:t>
            </a:r>
          </a:p>
          <a:p>
            <a:pPr algn="l">
              <a:spcAft>
                <a:spcPts val="1600"/>
              </a:spcAft>
            </a:pPr>
            <a:r>
              <a:rPr sz="1900" b="1">
                <a:solidFill>
                  <a:srgbClr val="1C6EA4"/>
                </a:solidFill>
                <a:latin typeface="Calibri"/>
              </a:rPr>
              <a:t>▸  </a:t>
            </a:r>
            <a:r>
              <a:rPr sz="1900">
                <a:solidFill>
                  <a:srgbClr val="444A52"/>
                </a:solidFill>
                <a:latin typeface="Calibri"/>
              </a:rPr>
              <a:t>An'anaviy va yengil vaznli xesh funksiyalar tasnifi tahlil qilindi;</a:t>
            </a:r>
          </a:p>
          <a:p>
            <a:pPr algn="l">
              <a:spcAft>
                <a:spcPts val="1600"/>
              </a:spcAft>
            </a:pPr>
            <a:r>
              <a:rPr sz="1900" b="1">
                <a:solidFill>
                  <a:srgbClr val="1C6EA4"/>
                </a:solidFill>
                <a:latin typeface="Calibri"/>
              </a:rPr>
              <a:t>▸  </a:t>
            </a:r>
            <a:r>
              <a:rPr sz="1900">
                <a:solidFill>
                  <a:srgbClr val="444A52"/>
                </a:solidFill>
                <a:latin typeface="Calibri"/>
              </a:rPr>
              <a:t>Ascon, PHOTON, SPONGENT algoritmlari batafsil ko'rib chiqildi;</a:t>
            </a:r>
          </a:p>
          <a:p>
            <a:pPr algn="l">
              <a:spcAft>
                <a:spcPts val="1600"/>
              </a:spcAft>
            </a:pPr>
            <a:r>
              <a:rPr sz="1900" b="1">
                <a:solidFill>
                  <a:srgbClr val="1C6EA4"/>
                </a:solidFill>
                <a:latin typeface="Calibri"/>
              </a:rPr>
              <a:t>▸  </a:t>
            </a:r>
            <a:r>
              <a:rPr sz="1900">
                <a:solidFill>
                  <a:srgbClr val="444A52"/>
                </a:solidFill>
                <a:latin typeface="Calibri"/>
              </a:rPr>
              <a:t>Avalanche, tezlik va resurs sarfi bo'yicha solishtirma tahlil o'tkazildi;</a:t>
            </a:r>
          </a:p>
          <a:p>
            <a:pPr algn="l">
              <a:spcAft>
                <a:spcPts val="1600"/>
              </a:spcAft>
            </a:pPr>
            <a:r>
              <a:rPr sz="1900" b="1">
                <a:solidFill>
                  <a:srgbClr val="1C6EA4"/>
                </a:solidFill>
                <a:latin typeface="Calibri"/>
              </a:rPr>
              <a:t>▸  </a:t>
            </a:r>
            <a:r>
              <a:rPr sz="1900">
                <a:solidFill>
                  <a:srgbClr val="444A52"/>
                </a:solidFill>
                <a:latin typeface="Calibri"/>
              </a:rPr>
              <a:t>Solishtirma dasturiy ta'minot ishlab chiqildi.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029200"/>
            <a:ext cx="10698480" cy="118872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5138928"/>
            <a:ext cx="101498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Asosiy xulosa:  Ascon-Hash256 — kriptografik mustahkamlik, apparat samaradorligi va IoT mosligi bo'yicha eng optimal yechim (5/5).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Foydalanilgan adabiyotlar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3949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1. O'zR Prezidenti Farmoni «O'zbekiston-2030 strategiyasi», PF-158, 2023.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2. O'zR Prezidenti Qarori «Kriptologiya sohasida ta'lim va ilm-fan», PQ-293, 2024.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3. O'zR «Kiberxavfsizlik to'g'risida»gi Qonuni, O'RQ-764, 2022.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4. Menezes A., van Oorschot P., Vanstone S. Handbook of Applied Cryptography. CRC Press, 1996.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5. Stallings W. Cryptography and Network Security. 8th ed. Pearson, 2020.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6. Diffie W., Hellman M. New Directions in Cryptography // IEEE Trans. Inf. Theory, 1976.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371600"/>
            <a:ext cx="53949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7. NIST. Lightweight Cryptography: NIST Selects Ascon. NIST IR 8454, 2023.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8. NIST. FIPS 186-5: Digital Signature Standard (DSS), 2023.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9. NIST. FIPS 180-4: Secure Hash Standard (SHS), 2015.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10. NIST. FIPS 202: SHA-3 Standard, 2015.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11. ISO/IEC 9797-1:2011. Message Authentication Codes (MACs) — Part 1.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12. Bellare M., Canetti R., Krawczyk H. Keying Hash Functions for Message Authentication. CRYPTO '96.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E'tiboringiz uchun rahmat!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57200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E8F1F8"/>
                </a:solidFill>
                <a:latin typeface="Calibri"/>
              </a:rPr>
              <a:t>Savollaringizga javob berishga tayyorman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76072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0">
                <a:solidFill>
                  <a:srgbClr val="AEC8DD"/>
                </a:solidFill>
                <a:latin typeface="Calibri"/>
              </a:rPr>
              <a:t>Axmadxo'jayev Abbosxon  •  Toshkent –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1050</Words>
  <Application>Microsoft Office PowerPoint</Application>
  <PresentationFormat>Широкоэкранный</PresentationFormat>
  <Paragraphs>180</Paragraphs>
  <Slides>13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Abbosxon Ahmadxo'jayev</cp:lastModifiedBy>
  <cp:revision>2</cp:revision>
  <dcterms:created xsi:type="dcterms:W3CDTF">2013-01-27T09:14:16Z</dcterms:created>
  <dcterms:modified xsi:type="dcterms:W3CDTF">2026-06-18T14:13:07Z</dcterms:modified>
  <cp:category/>
</cp:coreProperties>
</file>