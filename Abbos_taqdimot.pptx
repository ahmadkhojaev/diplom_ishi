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MUHAMMAD AL-XORAZMIY NOMIDAGI TOSHKENT AXBOROT</a:t>
            </a:r>
          </a:p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TEXNOLOGIYALARI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AEC8DD"/>
                </a:solidFill>
                <a:latin typeface="Calibri"/>
              </a:rPr>
              <a:t>Kiberxavfsizlik fakulteti  •  Kriptologiya kafedrasi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33172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DIPLOM LOYIHASI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Yengil vaznli kriptografik xesh</a:t>
            </a:r>
          </a:p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funksiyalarning tahlili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29768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E8F1F8"/>
                </a:solidFill>
                <a:latin typeface="Calibri"/>
              </a:rPr>
              <a:t>Bajardi:  Axmadxo'jayev Abbosxon Akmalxon o'g'li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Ilmiy rahbar:  Olimov I.S.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Toshkent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Taqdimot rejasi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46304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Mavzuning dolzarbligi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03911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Xesh funksiya o'zi nima?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1518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Diplom loyihasi maqsadi va vazifalari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191256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Kriptografik xesh funksiyalar — nazariy asoslar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767328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Yengil vaznli xesh funksiyalar (Ascon, PHOTON, SPONGENT)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34340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Solishtirma tahlil va dasturiy ta'minot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91947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Tadqiqot natijalari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49554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Xulosa va foydalanilgan adabiyotlar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IoT (Narsalar interneti) qurilmalari soni keskin o'smoqda — milliardlab sensor va RFID teglar.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Bunday qurilmalar resurslari cheklangan: kam quvvat, kichik xotira, past hisoblash imkoniyati.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xesh funksiyalar (SHA-256, SHA-3) bunday qurilmalar uchun og'irlik qiladi.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Yengil vaznli (lightweight) kriptografiya — zamonaviy axborot xavfsizligining ustuvor yo'nalishi.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NIST 2023-yilda Ascon algoritmini yengil vaznli kriptografiya standarti sifatida tanladi.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9728" cy="14630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Normativ asos: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O'zbekiston-2030 strategiyasi (PF-158, 2023)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Kriptologiya sohasini rivojlantirish (PQ-293, 2024)  •  «Kiberxavfsizlik to'g'risida»gi Qonun (O'RQ-764, 2022)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o'zi nima?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698480" cy="10515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44752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Xesh funksiya — ixtiyoriy uzunlikdagi ma'lumotni (matn, fayl, parol) belgilangan o'lchamli noyob «raqamli barmoq izi»ga aylantiruvchi matematik funksiya.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Misol (SHA-256):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63240"/>
            <a:ext cx="210312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632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F2C4A"/>
                </a:solidFill>
                <a:latin typeface="Calibri"/>
              </a:rPr>
              <a:t>“Salom”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063240"/>
            <a:ext cx="548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1C6EA4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063240"/>
            <a:ext cx="4937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06324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E8E5A"/>
                </a:solidFill>
                <a:latin typeface="Consolas"/>
              </a:rPr>
              <a:t>a1b2c3...8f9e   (256 bit)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03320"/>
            <a:ext cx="210312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0332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F2C4A"/>
                </a:solidFill>
                <a:latin typeface="Calibri"/>
              </a:rPr>
              <a:t>“salom”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703320"/>
            <a:ext cx="548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1C6EA4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3703320"/>
            <a:ext cx="4937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3703320"/>
            <a:ext cx="4937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onsolas"/>
              </a:rPr>
              <a:t>7d4e9a...2c1b   (mutlaqo boshqa!)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0832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444A52"/>
                </a:solidFill>
                <a:latin typeface="Calibri"/>
              </a:rPr>
              <a:t>Bitta harf o'zgarsa — xesh butunlay o'zgaradi (avalanche effekti).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606040"/>
            <a:ext cx="2651760" cy="3291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697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Asosiy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xususiyatlar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611880"/>
            <a:ext cx="2423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Bir tomonlama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Tez hisoblanadi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Belgilangan uzunlik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6FB5E0"/>
                </a:solidFill>
                <a:latin typeface="Calibri"/>
              </a:rPr>
              <a:t>▸  </a:t>
            </a:r>
            <a:r>
              <a:rPr sz="1300">
                <a:solidFill>
                  <a:srgbClr val="E8F1F8"/>
                </a:solidFill>
                <a:latin typeface="Calibri"/>
              </a:rPr>
              <a:t>Noyob natija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035040"/>
            <a:ext cx="10698480" cy="50292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03504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Qo'llanilishi: parollarni saqlash, fayl yaxlitligini tekshirish, raqamli imzo, bloklarni bog'lash (blockchain).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Maqsad va vazifalar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Maqsad:  Yengil vaznli kriptografik xesh funksiyalarni tahlil qilish, ularning samaradorligini baholash va solishtirma dasturiy vositani ishlab chiqish.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Vazifalar: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Axborotlarni kriptografik himoyalash va butunlikni ta'minlash usullarini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va yengil vaznli xesh funksiyalar tasnifini tahlil qilish;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Ascon, PHOTON, SPONGENT algoritmlarining tuzilishini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effekti, tezlik va resurs sarfi bo'yicha solishtirma tahlil o'tkazish;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natijalarni ko'rsatuvchi dasturiy ta'minot ishlab chiqish.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 BOB. Kriptografik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Kriptografik xavfsizlik talablari: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Preimage qarshiligi — xeshdan asl ma'lumotni tiklab bo'lmaydi;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2-preimage qarshiligi — bir xil xeshli boshqa xabar topib bo'lmaydi;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To'qnashuvga qarshilik — ikki xil xabar bir xil xesh bermaydi;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Avalanche effekti — 1 bit o'zgarsa, ~50% chiqish o'zgaradi.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Asosiy konstruksiyalar: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5852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Merkle–Damgård (SHA-1, SHA-2);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Sponge (SHA-3, Ascon, PHOTON);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C6EA4"/>
                </a:solidFill>
                <a:latin typeface="Calibri"/>
              </a:rPr>
              <a:t>▸  </a:t>
            </a:r>
            <a:r>
              <a:rPr sz="1400">
                <a:solidFill>
                  <a:srgbClr val="444A52"/>
                </a:solidFill>
                <a:latin typeface="Calibri"/>
              </a:rPr>
              <a:t>Blok-shifrga asoslangan (Davies–Meyer).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2801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2C4A"/>
                </a:solidFill>
                <a:latin typeface="Calibri"/>
              </a:rPr>
              <a:t>Xeshlash jarayoni:</a:t>
            </a:r>
          </a:p>
        </p:txBody>
      </p:sp>
      <p:pic>
        <p:nvPicPr>
          <p:cNvPr id="13" name="Picture 12" descr="has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83080"/>
            <a:ext cx="5212080" cy="2462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66560" y="5029200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Ixtiyoriy o'lchamdagi kirish → bir tomonlama funksiya → belgilangan uzunlikdagi (masalan, 256 bit) noyob xesh qiymati hosil bo'ladi.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konstruksiyalari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8229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Merkle–Damgård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Blokma-blok siqish funksiyasi.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SHA-1, SHA-2, MD5.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h_i = f(h_{i-1}, m_i)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3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Sponge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3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Absorbing + Squeezing.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SHA-3, Ascon, PHOTON,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SPONGENT. Moslashuvchan.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8229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6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Blok-shifrga asoslangan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6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Davies-Meyer,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Matyas-Meyer-Oseas,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Miyaguchi-Preneel.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C6EA4"/>
                </a:solidFill>
                <a:latin typeface="Calibri"/>
              </a:rPr>
              <a:t>Yengil vaznli xesh funksiyalar asosan Sponge konstruksiyasi va yengil blok shifrlar (PRESENT, GIFT, SIMON) ustiga quriladi.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 BOB. Yengil vaznli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914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Ascon-Hash256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standarti (2023)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Sponge • 12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~2 570 GE • 5-bit S-box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9144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3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PHOTON-Beetle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3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finalisti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Beetle/Sponge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~3 700 GE • 4-bit S-box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9144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6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6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ISO/IEC 29192-5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128 bit • Sponge • 70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~1 340 GE • eng kichik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1">
                <a:solidFill>
                  <a:srgbClr val="444A52"/>
                </a:solidFill>
                <a:latin typeface="Calibri"/>
              </a:rPr>
              <a:t>Barchasi resurslari cheklangan IoT, RFID va sensorli tarmoqlar uchun mo'ljallangan.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Avalanche (ko'chki) effekti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Kirishdagi 1 bit o'zgarsa, chiqishning ~50% biti o'zgarishi kerak (ideal = 0.5).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Xesh 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Avalanche nisbati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Baho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E8E5A"/>
                </a:solidFill>
                <a:latin typeface="Calibri"/>
              </a:rPr>
              <a:t>Natija: barcha algoritmlar ideal avalanche qiymatiga juda yaqin — kriptografik mustahkamligi yuqori.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Tezlik va apparat resurslari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Dasturiy tezlik (MB/s)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56232"/>
            <a:ext cx="438912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3680" y="1828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13432"/>
            <a:ext cx="365760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160" y="22860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70632"/>
            <a:ext cx="292608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0640" y="27432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Ascon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27832"/>
            <a:ext cx="6096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95520" y="3200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PHOTON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6850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94560" y="36576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SPONGENT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422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94560" y="4114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2344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Gate ekvivalenti (GE)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288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1828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~1 340 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2860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22860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~2 570 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43200"/>
            <a:ext cx="109728" cy="3657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27432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743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C6EA4"/>
                </a:solidFill>
                <a:latin typeface="Calibri"/>
              </a:rPr>
              <a:t>~3 700 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004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32004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2004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~8 000 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6576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36576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6576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~10 000+ 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41148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12280" y="4114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14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~12 000+ 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5120640"/>
            <a:ext cx="109728" cy="10972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1498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Kelishuv (trade-off):  Yengil vaznli funksiyalar tezlikda yutqazadi, lekin apparat resurslarida (GE, energiya) sezilarli yutadi — bu IoT qurilmalari uchun hal qiluvchi.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Ishlab chiqilgan dasturiy ta'minot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Xesh funksiyalarni solishtirma tahlil qiluvchi dasturiy vosita ishlab chiqildi: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Turli xesh funksiyalar uchun digest hisoblash moduli;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effektini o'lchash va vizualizatsiya qilish;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Tezlik (MB/s) va bir amal vaqtini o'lchash;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diagrammalar va jadvallar generatsiyasi.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Yakuniy baholash: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Ascon-Hash256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E8E5A"/>
                </a:solidFill>
                <a:latin typeface="Calibri"/>
              </a:rPr>
              <a:t>5/5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PHOTON-Beetle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6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6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6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Kriptografik himoya va ma'lumot butunligini ta'minlash usullari o'rganildi;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An'anaviy va yengil vaznli xesh funksiyalar tasnifi tahlil qilindi;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Ascon, PHOTON, SPONGENT algoritmlari batafsil ko'rib chiqildi;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Avalanche, tezlik va resurs sarfi bo'yicha solishtirma tahlil o'tkazildi;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Solishtirma dasturiy ta'minot ishlab chiqildi.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138928"/>
            <a:ext cx="101498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Asosiy xulosa:  Ascon-Hash256 — kriptografik mustahkamlik, apparat samaradorligi va IoT mosligi bo'yicha eng optimal yechim (5/5).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Foydalanilgan adabiyotlar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1. O'zR Prezidenti Farmoni «O'zbekiston-2030 strategiyasi», PF-158,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2. O'zR Prezidenti Qarori «Kriptologiya sohasida ta'lim va ilm-fan», PQ-293, 2024.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3. O'zR «Kiberxavfsizlik to'g'risida»gi Qonuni, O'RQ-764, 2022.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4. Menezes A., van Oorschot P., Vanstone S. Handbook of Applied Cryptography. CRC Press, 1996.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5. Stallings W. Cryptography and Network Security. 8th ed. Pearson, 2020.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6. Diffie W., Hellman M. New Directions in Cryptography // IEEE Trans. Inf. Theory, 1976.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7. NIST. Lightweight Cryptography: NIST Selects Ascon. NIST IR 8454,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8. NIST. FIPS 186-5: Digital Signature Standard (DSS), 2023.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9. NIST. FIPS 180-4: Secure Hash Standard (SHS),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10. NIST. FIPS 202: SHA-3 Standard, 2015.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11. ISO/IEC 9797-1:2011. Message Authentication Codes (MACs) — Part 1.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444A52"/>
                </a:solidFill>
                <a:latin typeface="Calibri"/>
              </a:rPr>
              <a:t>12. Bellare M., Canetti R., Krawczyk H. Keying Hash Functions for Message Authentication. CRYPTO '96.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E8F1F8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Axmadxo'jayev Abbosxon  •  Toshkent –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