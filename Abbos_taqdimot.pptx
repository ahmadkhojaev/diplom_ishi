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60" r:id="rId4"/>
    <p:sldId id="261" r:id="rId5"/>
    <p:sldId id="270" r:id="rId19"/>
    <p:sldId id="259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E8F1F8"/>
                </a:solidFill>
                <a:latin typeface="Calibri"/>
              </a:rPr>
              <a:t>MUHAMMAD AL-XORAZMIY NOMIDAGI TOSHKENT AXBOROT</a:t>
            </a:r>
          </a:p>
          <a:p>
            <a:pPr algn="ctr"/>
            <a:r>
              <a:rPr sz="1400" b="1" i="0">
                <a:solidFill>
                  <a:srgbClr val="E8F1F8"/>
                </a:solidFill>
                <a:latin typeface="Calibri"/>
              </a:rPr>
              <a:t>TEXNOLOGIYALARI UNIVERSITETI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AEC8DD"/>
                </a:solidFill>
                <a:latin typeface="Calibri"/>
              </a:rPr>
              <a:t>Kiberxavfsizlik fakulteti  •  Kriptologiya kafedrasi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331720"/>
            <a:ext cx="9418320" cy="54864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DIPLOM LOYIHASI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Yengil vaznli kriptografik xesh</a:t>
            </a:r>
          </a:p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funksiyalarning tahlili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4297680"/>
            <a:ext cx="9418320" cy="54864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4709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0">
                <a:solidFill>
                  <a:srgbClr val="E8F1F8"/>
                </a:solidFill>
                <a:latin typeface="Calibri"/>
              </a:rPr>
              <a:t>Bajardi:  Axmadxo'jayev Abbosxon Akmalxon o'g'li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AEC8DD"/>
                </a:solidFill>
                <a:latin typeface="Calibri"/>
              </a:rPr>
              <a:t>Ilmiy rahbar:  Olimov I.S.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Toshkent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Mavzuning dolzarbligi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351931"/>
            <a:ext cx="45720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2</a:t>
            </a:r>
            <a:endParaRPr sz="16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IoT (Narsalar interneti) qurilmalari soni keskin o'smoqda — milliardlab sensor va RFID teglar.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Bunday qurilmalar resurslari cheklangan: kam quvvat, kichik xotira, past hisoblash imkoniyati.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An'anaviy xesh funksiyalar (SHA-256, SHA-3) bunday qurilmalar uchun og'irlik qiladi.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Yengil vaznli (lightweight) kriptografiya — zamonaviy axborot xavfsizligining ustuvor yo'nalishi.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NIST 2023-yilda Ascon algoritmini yengil vaznli kriptografiya standarti sifatida tanladi.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754880"/>
            <a:ext cx="10698480" cy="146304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4754880"/>
            <a:ext cx="109728" cy="14630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892040"/>
            <a:ext cx="10149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444A52"/>
                </a:solidFill>
                <a:latin typeface="Calibri"/>
              </a:rPr>
              <a:t>Normativ asos:</a:t>
            </a:r>
          </a:p>
          <a:p>
            <a:pPr algn="l"/>
            <a:r>
              <a:rPr sz="1500" b="0" i="0">
                <a:solidFill>
                  <a:srgbClr val="444A52"/>
                </a:solidFill>
                <a:latin typeface="Calibri"/>
              </a:rPr>
              <a:t>• O'zbekiston-2030 strategiyasi (PF-158, 2023)</a:t>
            </a:r>
          </a:p>
          <a:p>
            <a:pPr algn="l"/>
            <a:r>
              <a:rPr sz="1500" b="0" i="0">
                <a:solidFill>
                  <a:srgbClr val="444A52"/>
                </a:solidFill>
                <a:latin typeface="Calibri"/>
              </a:rPr>
              <a:t>• Kriptologiya sohasini rivojlantirish (PQ-293, 2024)  •  «Kiberxavfsizlik to'g'risida»gi Qonun (O'RQ-764, 2022)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Maqsad va vazifalar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351931"/>
            <a:ext cx="45720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3</a:t>
            </a:r>
            <a:endParaRPr sz="16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508760"/>
            <a:ext cx="10149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Maqsad:  Yengil vaznli kriptografik xesh funksiyalarni tahlil qilish, ularning samaradorligini baholash va solishtirma dasturiy vositani ishlab chiqish.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0F2C4A"/>
                </a:solidFill>
                <a:latin typeface="Calibri"/>
              </a:rPr>
              <a:t>Vazifalar: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Axborotlarni kriptografik himoyalash va butunlikni ta'minlash usullarini o'rganish;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An'anaviy va yengil vaznli xesh funksiyalar tasnifini tahlil qilish;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Ascon, PHOTON, SPONGENT algoritmlarining tuzilishini o'rganish;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Avalanche effekti, tezlik va resurs sarfi bo'yicha solishtirma tahlil o'tkazish;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Solishtirma natijalarni ko'rsatuvchi dasturiy ta'minot ishlab chiqish.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Xesh funksiya o'zi nima?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10698480" cy="105156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444752"/>
            <a:ext cx="10149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Xesh funksiya — ixtiyoriy uzunlikdagi ma'lumotni (matn, fayl, parol) belgilangan o'lchamli noyob «raqamli barmoq izi»ga aylantiruvchi matematik funksiya.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0604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F2C4A"/>
                </a:solidFill>
                <a:latin typeface="Calibri"/>
              </a:rPr>
              <a:t>Misol (SHA-256):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063240"/>
            <a:ext cx="2103120" cy="50292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63240"/>
            <a:ext cx="2103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0F2C4A"/>
                </a:solidFill>
                <a:latin typeface="Calibri"/>
              </a:rPr>
              <a:t>“Salom”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3063240"/>
            <a:ext cx="548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1C6EA4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3063240"/>
            <a:ext cx="4937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3063240"/>
            <a:ext cx="4937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E8E5A"/>
                </a:solidFill>
                <a:latin typeface="Consolas"/>
              </a:rPr>
              <a:t>a1b2c3...8f9e   (256 bit)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03320"/>
            <a:ext cx="2103120" cy="50292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703320"/>
            <a:ext cx="2103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0F2C4A"/>
                </a:solidFill>
                <a:latin typeface="Calibri"/>
              </a:rPr>
              <a:t>“salom”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703320"/>
            <a:ext cx="548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1C6EA4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1880" y="3703320"/>
            <a:ext cx="4937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3703320"/>
            <a:ext cx="4937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C0392B"/>
                </a:solidFill>
                <a:latin typeface="Consolas"/>
              </a:rPr>
              <a:t>7d4e9a...2c1b   (mutlaqo boshqa!)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370832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1">
                <a:solidFill>
                  <a:srgbClr val="444A52"/>
                </a:solidFill>
                <a:latin typeface="Calibri"/>
              </a:rPr>
              <a:t>Bitta harf o'zgarsa — xesh butunlay o'zgaradi (avalanche effekti).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606040"/>
            <a:ext cx="2651760" cy="329184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0" y="2697480"/>
            <a:ext cx="2468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Asosiy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xususiyatlar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611880"/>
            <a:ext cx="24231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6FB5E0"/>
                </a:solidFill>
                <a:latin typeface="Calibri"/>
              </a:rPr>
              <a:t>▸  </a:t>
            </a:r>
            <a:r>
              <a:rPr sz="1300">
                <a:solidFill>
                  <a:srgbClr val="E8F1F8"/>
                </a:solidFill>
                <a:latin typeface="Calibri"/>
              </a:rPr>
              <a:t>Bir tomonlama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6FB5E0"/>
                </a:solidFill>
                <a:latin typeface="Calibri"/>
              </a:rPr>
              <a:t>▸  </a:t>
            </a:r>
            <a:r>
              <a:rPr sz="1300">
                <a:solidFill>
                  <a:srgbClr val="E8F1F8"/>
                </a:solidFill>
                <a:latin typeface="Calibri"/>
              </a:rPr>
              <a:t>Tez hisoblanadi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6FB5E0"/>
                </a:solidFill>
                <a:latin typeface="Calibri"/>
              </a:rPr>
              <a:t>▸  </a:t>
            </a:r>
            <a:r>
              <a:rPr sz="1300">
                <a:solidFill>
                  <a:srgbClr val="E8F1F8"/>
                </a:solidFill>
                <a:latin typeface="Calibri"/>
              </a:rPr>
              <a:t>Belgilangan uzunlik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6FB5E0"/>
                </a:solidFill>
                <a:latin typeface="Calibri"/>
              </a:rPr>
              <a:t>▸  </a:t>
            </a:r>
            <a:r>
              <a:rPr sz="1300">
                <a:solidFill>
                  <a:srgbClr val="E8F1F8"/>
                </a:solidFill>
                <a:latin typeface="Calibri"/>
              </a:rPr>
              <a:t>Noyob natija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035040"/>
            <a:ext cx="10698480" cy="50292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6035040"/>
            <a:ext cx="10332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Qo'llanilishi: parollarni saqlash, fayl yaxlitligini tekshirish, raqamli imzo, bloklarni bog'lash (blockchain).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Muammoning qo'yilishi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351931"/>
            <a:ext cx="45720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5</a:t>
            </a:r>
            <a:endParaRPr sz="16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0F2C4A"/>
                </a:solidFill>
                <a:latin typeface="Calibri"/>
              </a:rPr>
              <a:t>Resurslari cheklangan qurilmalarda xavfsizlik va samaradorlik o'rtasidagi ziddiyat: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03120"/>
            <a:ext cx="5120640" cy="356616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1C6EA4"/>
                </a:solidFill>
                <a:latin typeface="Calibri"/>
              </a:rPr>
              <a:t>An'anaviy xesh funksiyalar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3464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6EA4"/>
                </a:solidFill>
                <a:latin typeface="Calibri"/>
              </a:rPr>
              <a:t>▸  </a:t>
            </a:r>
            <a:r>
              <a:rPr sz="1600">
                <a:solidFill>
                  <a:srgbClr val="444A52"/>
                </a:solidFill>
                <a:latin typeface="Calibri"/>
              </a:rPr>
              <a:t>Yuqori xavfsizlik darajasi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6EA4"/>
                </a:solidFill>
                <a:latin typeface="Calibri"/>
              </a:rPr>
              <a:t>▸  </a:t>
            </a:r>
            <a:r>
              <a:rPr sz="1600">
                <a:solidFill>
                  <a:srgbClr val="444A52"/>
                </a:solidFill>
                <a:latin typeface="Calibri"/>
              </a:rPr>
              <a:t>Katta gate ekvivalenti (10 000+ GE)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6EA4"/>
                </a:solidFill>
                <a:latin typeface="Calibri"/>
              </a:rPr>
              <a:t>▸  </a:t>
            </a:r>
            <a:r>
              <a:rPr sz="1600">
                <a:solidFill>
                  <a:srgbClr val="444A52"/>
                </a:solidFill>
                <a:latin typeface="Calibri"/>
              </a:rPr>
              <a:t>Ko'p xotira va quvvat talab qiladi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6EA4"/>
                </a:solidFill>
                <a:latin typeface="Calibri"/>
              </a:rPr>
              <a:t>▸  </a:t>
            </a:r>
            <a:r>
              <a:rPr sz="1600">
                <a:solidFill>
                  <a:srgbClr val="444A52"/>
                </a:solidFill>
                <a:latin typeface="Calibri"/>
              </a:rPr>
              <a:t>IoT qurilmalari uchun mos emas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03120"/>
            <a:ext cx="5120640" cy="35661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2860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E8F1F8"/>
                </a:solidFill>
                <a:latin typeface="Calibri"/>
              </a:rPr>
              <a:t>Yengil vaznli xesh funksiyalar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83464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6FB5E0"/>
                </a:solidFill>
                <a:latin typeface="Calibri"/>
              </a:rPr>
              <a:t>▸  </a:t>
            </a:r>
            <a:r>
              <a:rPr sz="1600">
                <a:solidFill>
                  <a:srgbClr val="E8F1F8"/>
                </a:solidFill>
                <a:latin typeface="Calibri"/>
              </a:rPr>
              <a:t>Past resurs sarfi (1 300–3 700 GE)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6FB5E0"/>
                </a:solidFill>
                <a:latin typeface="Calibri"/>
              </a:rPr>
              <a:t>▸  </a:t>
            </a:r>
            <a:r>
              <a:rPr sz="1600">
                <a:solidFill>
                  <a:srgbClr val="E8F1F8"/>
                </a:solidFill>
                <a:latin typeface="Calibri"/>
              </a:rPr>
              <a:t>Kam xotira va energiya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6FB5E0"/>
                </a:solidFill>
                <a:latin typeface="Calibri"/>
              </a:rPr>
              <a:t>▸  </a:t>
            </a:r>
            <a:r>
              <a:rPr sz="1600">
                <a:solidFill>
                  <a:srgbClr val="E8F1F8"/>
                </a:solidFill>
                <a:latin typeface="Calibri"/>
              </a:rPr>
              <a:t>IoT, RFID, sensorlar uchun mos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6FB5E0"/>
                </a:solidFill>
                <a:latin typeface="Calibri"/>
              </a:rPr>
              <a:t>▸  </a:t>
            </a:r>
            <a:r>
              <a:rPr sz="1600">
                <a:solidFill>
                  <a:srgbClr val="E8F1F8"/>
                </a:solidFill>
                <a:latin typeface="Calibri"/>
              </a:rPr>
              <a:t>Standartlashtirish jarayoni davom etmoqda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Xesh funksiya konstruksiyalari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F2C4A"/>
                </a:solidFill>
                <a:latin typeface="Calibri"/>
              </a:rPr>
              <a:t>Asosiy konstruksiya turlari: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728" cy="12344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7830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C6EA4"/>
                </a:solidFill>
                <a:latin typeface="Calibri"/>
              </a:rPr>
              <a:t>Merkle–Damgård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6712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Ma'lumot bloklarga bo'linib, ketma-ket siqish funksiyasidan o'tkaziladi. SHA-1, SHA-2, MD5 shu asosda.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54680"/>
            <a:ext cx="109728" cy="123444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546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8E5A"/>
                </a:solidFill>
                <a:latin typeface="Calibri"/>
              </a:rPr>
              <a:t>Sponge (g'ovak)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3872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Absorbing (yutish) va squeezing (siqib chiqarish) bosqichlari. SHA-3, Ascon, PHOTON, SPONGENT.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728" cy="123444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262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F2C4A"/>
                </a:solidFill>
                <a:latin typeface="Calibri"/>
              </a:rPr>
              <a:t>Blok-shifrga asoslangan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1032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Davies–Meyer, Matyas–Meyer–Oseas, Miyaguchi–Preneel sxemalari blok shifrdan xesh quradi.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280160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F2C4A"/>
                </a:solidFill>
                <a:latin typeface="Calibri"/>
              </a:rPr>
              <a:t>Sponge konstruksiyasi (yengil vaznli xesh asosi):</a:t>
            </a:r>
          </a:p>
        </p:txBody>
      </p:sp>
      <p:pic>
        <p:nvPicPr>
          <p:cNvPr id="19" name="Picture 18" descr="spo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783080"/>
            <a:ext cx="5852160" cy="29556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26480" y="5029200"/>
            <a:ext cx="5577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Yengil vaznli xesh funksiyalar (Ascon, PHOTON, SPONGENT) aynan Sponge konstruksiyasi va yengil blok shifrlar (PRESENT, GIFT, SIMON) ustiga quriladi.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II BOB. Yengil vaznli xesh funksiyalar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554480"/>
            <a:ext cx="3520440" cy="9144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554480"/>
            <a:ext cx="3337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Ascon-Hash256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30175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NIST LWC standarti (2023)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256 bit • Sponge • 12 raund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~2 570 GE • 5-bit S-box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3983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C6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43983" y="1554480"/>
            <a:ext cx="3520440" cy="9144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5423" y="1554480"/>
            <a:ext cx="3337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PHOTON-Beetle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8303" y="2697480"/>
            <a:ext cx="30175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NIST LWC finalisti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256 bit • Beetle/Sponge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~3 700 GE • 4-bit S-box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6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56446" y="1554480"/>
            <a:ext cx="3520440" cy="91440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47886" y="1554480"/>
            <a:ext cx="3337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SPONGENT-128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6" y="2697480"/>
            <a:ext cx="30175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ISO/IEC 29192-5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128 bit • Sponge • 70 raund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~1 340 GE • eng kichik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1">
                <a:solidFill>
                  <a:srgbClr val="444A52"/>
                </a:solidFill>
                <a:latin typeface="Calibri"/>
              </a:rPr>
              <a:t>Barchasi resurslari cheklangan IoT, RFID va sensorli tarmoqlar uchun mo'ljallangan.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Avalanche (ko'chki) effekti tahlili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444A52"/>
                </a:solidFill>
                <a:latin typeface="Calibri"/>
              </a:rPr>
              <a:t>Kirishdagi 1 bit o'zgarsa, chiqishning ~50% biti o'zgarishi kerak (ideal = 0.5).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011680"/>
            <a:ext cx="3657600" cy="548640"/>
          </a:xfrm>
          <a:prstGeom prst="rect">
            <a:avLst/>
          </a:prstGeom>
          <a:solidFill>
            <a:srgbClr val="0F2C4A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201168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Xesh funksiya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2011680"/>
            <a:ext cx="3200400" cy="548640"/>
          </a:xfrm>
          <a:prstGeom prst="rect">
            <a:avLst/>
          </a:prstGeom>
          <a:solidFill>
            <a:srgbClr val="0F2C4A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0" y="201168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Avalanche nisbati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011680"/>
            <a:ext cx="2560320" cy="548640"/>
          </a:xfrm>
          <a:prstGeom prst="rect">
            <a:avLst/>
          </a:prstGeom>
          <a:solidFill>
            <a:srgbClr val="0F2C4A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0" y="201168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Baho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2560320"/>
            <a:ext cx="36576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71600" y="256032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Ascon-Hash256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2560320"/>
            <a:ext cx="32004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0" y="256032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0.4998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2560320"/>
            <a:ext cx="256032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0" y="256032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310896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PHOTON-Beetle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310896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0" y="31089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0.5003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108960"/>
            <a:ext cx="2560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0" y="310896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0" y="3657600"/>
            <a:ext cx="36576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371600" y="365760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SPONGENT-128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3657600"/>
            <a:ext cx="32004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0" y="365760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0.4995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3657600"/>
            <a:ext cx="256032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29600" y="365760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71600" y="420624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371600" y="420624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SHA-256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0" y="420624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0.5001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4206240"/>
            <a:ext cx="2560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229600" y="420624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71600" y="4754880"/>
            <a:ext cx="36576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371600" y="475488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SHA-3-256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0" y="4754880"/>
            <a:ext cx="32004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029200" y="475488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0.4999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4754880"/>
            <a:ext cx="256032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29600" y="475488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0" y="530352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371600" y="530352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BLAKE2s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0" y="530352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029200" y="530352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0.5002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5303520"/>
            <a:ext cx="2560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229600" y="530352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60807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1E8E5A"/>
                </a:solidFill>
                <a:latin typeface="Calibri"/>
              </a:rPr>
              <a:t>Natija: barcha algoritmlar ideal avalanche qiymatiga juda yaqin — kriptografik mustahkamligi yuqori.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Tezlik va apparat resurslari tahlili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F2C4A"/>
                </a:solidFill>
                <a:latin typeface="Calibri"/>
              </a:rPr>
              <a:t>Dasturiy tezlik (MB/s)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BLAKE2s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856232"/>
            <a:ext cx="4389120" cy="27432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23680" y="18288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180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SHA-256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2313432"/>
            <a:ext cx="3657600" cy="27432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92160" y="22860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150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7432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SHA-3-256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2770632"/>
            <a:ext cx="2926080" cy="27432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60640" y="27432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Ascon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227832"/>
            <a:ext cx="60960" cy="274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295520" y="32004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2.5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6576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PHOTON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685032"/>
            <a:ext cx="60000" cy="274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94560" y="36576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0.03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SPONGENT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94560" y="4142232"/>
            <a:ext cx="60000" cy="274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294560" y="41148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0.01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12344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F2C4A"/>
                </a:solidFill>
                <a:latin typeface="Calibri"/>
              </a:rPr>
              <a:t>Gate ekvivalenti (GE)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1828800"/>
            <a:ext cx="109728" cy="3657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12280" y="18288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SPONGENT-128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18288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E8E5A"/>
                </a:solidFill>
                <a:latin typeface="Calibri"/>
              </a:rPr>
              <a:t>~1 340 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2286000"/>
            <a:ext cx="109728" cy="3657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12280" y="22860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Ascon-Hash256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22860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E8E5A"/>
                </a:solidFill>
                <a:latin typeface="Calibri"/>
              </a:rPr>
              <a:t>~2 570 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2743200"/>
            <a:ext cx="109728" cy="36576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812280" y="27432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PHOTON-Beetle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27432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C6EA4"/>
                </a:solidFill>
                <a:latin typeface="Calibri"/>
              </a:rPr>
              <a:t>~3 700 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3200400"/>
            <a:ext cx="109728" cy="36576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12280" y="32004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BLAKE2s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32004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444A52"/>
                </a:solidFill>
                <a:latin typeface="Calibri"/>
              </a:rPr>
              <a:t>~8 000 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3657600"/>
            <a:ext cx="109728" cy="36576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12280" y="36576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SHA-256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36576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444A52"/>
                </a:solidFill>
                <a:latin typeface="Calibri"/>
              </a:rPr>
              <a:t>~10 000+ GE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0" y="4114800"/>
            <a:ext cx="109728" cy="36576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812280" y="41148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SHA-3-256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18320" y="41148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444A52"/>
                </a:solidFill>
                <a:latin typeface="Calibri"/>
              </a:rPr>
              <a:t>~12 000+ GE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120640"/>
            <a:ext cx="10698480" cy="109728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31520" y="5120640"/>
            <a:ext cx="109728" cy="109728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1498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Kelishuv (trade-off):  Yengil vaznli funksiyalar tezlikda yutqazadi, lekin apparat resurslarida (GE, energiya) sezilarli yutadi — bu IoT qurilmalari uchun hal qiluvchi.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Ishlab chiqilgan dasturiy ta'minot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F2C4A"/>
                </a:solidFill>
                <a:latin typeface="Calibri"/>
              </a:rPr>
              <a:t>Xesh funksiyalarni solishtirma tahlil qiluvchi dasturiy vosita ishlab chiqildi: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Turli xesh funksiyalar uchun digest hisoblash moduli;</a:t>
            </a:r>
          </a:p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Avalanche effektini o'lchash va vizualizatsiya qilish;</a:t>
            </a:r>
          </a:p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Tezlik (MB/s) va bir amal vaqtini o'lchash;</a:t>
            </a:r>
          </a:p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Solishtirma diagrammalar va jadvallar generatsiyasi.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F2C4A"/>
                </a:solidFill>
                <a:latin typeface="Calibri"/>
              </a:rPr>
              <a:t>Yakuniy baholash: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937760"/>
            <a:ext cx="3520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0F2C4A"/>
                </a:solidFill>
                <a:latin typeface="Calibri"/>
              </a:rPr>
              <a:t>Ascon-Hash256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8640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E8E5A"/>
                </a:solidFill>
                <a:latin typeface="Calibri"/>
              </a:rPr>
              <a:t>5/5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43983" y="4937760"/>
            <a:ext cx="3520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C6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43983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0F2C4A"/>
                </a:solidFill>
                <a:latin typeface="Calibri"/>
              </a:rPr>
              <a:t>PHOTON-Beetle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3" y="548640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C6EA4"/>
                </a:solidFill>
                <a:latin typeface="Calibri"/>
              </a:rPr>
              <a:t>4/5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56446" y="4937760"/>
            <a:ext cx="3520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C6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56446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0F2C4A"/>
                </a:solidFill>
                <a:latin typeface="Calibri"/>
              </a:rPr>
              <a:t>SPONGENT-128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6" y="548640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C6EA4"/>
                </a:solidFill>
                <a:latin typeface="Calibri"/>
              </a:rPr>
              <a:t>4/5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Xulosa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Kriptografik himoya va ma'lumot butunligini ta'minlash usullari o'rganildi;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An'anaviy va yengil vaznli xesh funksiyalar tasnifi tahlil qilindi;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Ascon, PHOTON, SPONGENT algoritmlari batafsil ko'rib chiqildi;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Avalanche, tezlik va resurs sarfi bo'yicha solishtirma tahlil o'tkazildi;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Solishtirma dasturiy ta'minot ishlab chiqildi.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29200"/>
            <a:ext cx="10698480" cy="118872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5138928"/>
            <a:ext cx="101498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Asosiy xulosa:  Ascon-Hash256 — kriptografik mustahkamlik, apparat samaradorligi va IoT mosligi bo'yicha eng optimal yechim (5/5).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Foydalanilgan adabiyotlar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1. O'zR Prezidenti Farmoni «O'zbekiston-2030 strategiyasi», PF-158, 2023.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2. O'zR Prezidenti Qarori «Kriptologiya sohasida ta'lim va ilm-fan», PQ-293, 2024.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3. O'zR «Kiberxavfsizlik to'g'risida»gi Qonuni, O'RQ-764, 2022.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4. Menezes A., van Oorschot P., Vanstone S. Handbook of Applied Cryptography. CRC Press, 1996.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5. Stallings W. Cryptography and Network Security. 8th ed. Pearson, 2020.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6. Diffie W., Hellman M. New Directions in Cryptography // IEEE Trans. Inf. Theory, 1976.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37160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7. NIST. Lightweight Cryptography: NIST Selects Ascon. NIST IR 8454, 2023.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8. NIST. FIPS 186-5: Digital Signature Standard (DSS), 2023.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9. NIST. FIPS 180-4: Secure Hash Standard (SHS), 2015.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10. NIST. FIPS 202: SHA-3 Standard, 2015.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11. ISO/IEC 9797-1:2011. Message Authentication Codes (MACs) — Part 1.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12. Bellare M., Canetti R., Krawczyk H. Keying Hash Functions for Message Authentication. CRYPTO '96.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E'tiboringiz uchun rahmat!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E8F1F8"/>
                </a:solidFill>
                <a:latin typeface="Calibri"/>
              </a:rPr>
              <a:t>Savollaringizga javob berishga tayyorman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76072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AEC8DD"/>
                </a:solidFill>
                <a:latin typeface="Calibri"/>
              </a:rPr>
              <a:t>Axmadxo'jayev Abbosxon  •  Toshkent –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Yengil vaznli xesh funksiyalar o'zi nima?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280160"/>
            <a:ext cx="10698480" cy="10058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371600"/>
            <a:ext cx="10149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Yengil vaznli (lightweight) xesh funksiyalar — resurslari cheklangan qurilmalar uchun maxsus mo'ljallangan, kam xotira, energiya va hisoblash quvvati talab qiladigan kriptografik xesh funksiyalar.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1460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F2C4A"/>
                </a:solidFill>
                <a:latin typeface="Calibri"/>
              </a:rPr>
              <a:t>Nima uchun kerak?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718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1C6EA4"/>
                </a:solidFill>
                <a:latin typeface="Calibri"/>
              </a:rPr>
              <a:t>▸  </a:t>
            </a:r>
            <a:r>
              <a:rPr sz="1400">
                <a:solidFill>
                  <a:srgbClr val="444A52"/>
                </a:solidFill>
                <a:latin typeface="Calibri"/>
              </a:rPr>
              <a:t>An'anaviy xesh (SHA-256) IoT qurilmalari uchun og'ir;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C6EA4"/>
                </a:solidFill>
                <a:latin typeface="Calibri"/>
              </a:rPr>
              <a:t>▸  </a:t>
            </a:r>
            <a:r>
              <a:rPr sz="1400">
                <a:solidFill>
                  <a:srgbClr val="444A52"/>
                </a:solidFill>
                <a:latin typeface="Calibri"/>
              </a:rPr>
              <a:t>Kichik sensor, RFID teg, smart-karta kam quvvatga ega;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C6EA4"/>
                </a:solidFill>
                <a:latin typeface="Calibri"/>
              </a:rPr>
              <a:t>▸  </a:t>
            </a:r>
            <a:r>
              <a:rPr sz="1400">
                <a:solidFill>
                  <a:srgbClr val="444A52"/>
                </a:solidFill>
                <a:latin typeface="Calibri"/>
              </a:rPr>
              <a:t>Kam joy (gate) va energiya bilan xavfsizlik kerak.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F2C4A"/>
                </a:solidFill>
                <a:latin typeface="Calibri"/>
              </a:rPr>
              <a:t>Qayerda ishlatiladi?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303520"/>
            <a:ext cx="1207008" cy="9144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5303520"/>
            <a:ext cx="1207008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376672"/>
            <a:ext cx="1207008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F2C4A"/>
                </a:solidFill>
                <a:latin typeface="Calibri"/>
              </a:rPr>
              <a:t>IoT</a:t>
            </a:r>
          </a:p>
          <a:p>
            <a:pPr algn="ctr"/>
            <a:r>
              <a:rPr sz="1200" b="1" i="0">
                <a:solidFill>
                  <a:srgbClr val="0F2C4A"/>
                </a:solidFill>
                <a:latin typeface="Calibri"/>
              </a:rPr>
              <a:t>qurilmalar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57400" y="5303520"/>
            <a:ext cx="1207008" cy="9144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5303520"/>
            <a:ext cx="1207008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5376672"/>
            <a:ext cx="1207008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F2C4A"/>
                </a:solidFill>
                <a:latin typeface="Calibri"/>
              </a:rPr>
              <a:t>RFID</a:t>
            </a:r>
          </a:p>
          <a:p>
            <a:pPr algn="ctr"/>
            <a:r>
              <a:rPr sz="1200" b="1" i="0">
                <a:solidFill>
                  <a:srgbClr val="0F2C4A"/>
                </a:solidFill>
                <a:latin typeface="Calibri"/>
              </a:rPr>
              <a:t>teglar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5303520"/>
            <a:ext cx="1207008" cy="9144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83280" y="5303520"/>
            <a:ext cx="1207008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5376672"/>
            <a:ext cx="1207008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F2C4A"/>
                </a:solidFill>
                <a:latin typeface="Calibri"/>
              </a:rPr>
              <a:t>Sensor</a:t>
            </a:r>
          </a:p>
          <a:p>
            <a:pPr algn="ctr"/>
            <a:r>
              <a:rPr sz="1200" b="1" i="0">
                <a:solidFill>
                  <a:srgbClr val="0F2C4A"/>
                </a:solidFill>
                <a:latin typeface="Calibri"/>
              </a:rPr>
              <a:t>tarmoqlar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5303520"/>
            <a:ext cx="1207008" cy="9144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09160" y="5303520"/>
            <a:ext cx="1207008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60" y="5376672"/>
            <a:ext cx="1207008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F2C4A"/>
                </a:solidFill>
                <a:latin typeface="Calibri"/>
              </a:rPr>
              <a:t>Smart</a:t>
            </a:r>
          </a:p>
          <a:p>
            <a:pPr algn="ctr"/>
            <a:r>
              <a:rPr sz="1200" b="1" i="0">
                <a:solidFill>
                  <a:srgbClr val="0F2C4A"/>
                </a:solidFill>
                <a:latin typeface="Calibri"/>
              </a:rPr>
              <a:t>kartalar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2514600"/>
            <a:ext cx="5074920" cy="370332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651760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F2C4A"/>
                </a:solidFill>
                <a:latin typeface="Calibri"/>
              </a:rPr>
              <a:t>An'anaviy vs Yengil vaznli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15468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0F2C4A"/>
                </a:solidFill>
                <a:latin typeface="Calibri"/>
              </a:rPr>
              <a:t>Mezon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154680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0F2C4A"/>
                </a:solidFill>
                <a:latin typeface="Calibri"/>
              </a:rPr>
              <a:t>An'anaviy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315468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0F2C4A"/>
                </a:solidFill>
                <a:latin typeface="Calibri"/>
              </a:rPr>
              <a:t>Yengil vaznli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37960" y="3611880"/>
            <a:ext cx="4754880" cy="1905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3721608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444A52"/>
                </a:solidFill>
                <a:latin typeface="Calibri"/>
              </a:rPr>
              <a:t>Resurs (GE)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3721608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10 000+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3721608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E8E5A"/>
                </a:solidFill>
                <a:latin typeface="Calibri"/>
              </a:rPr>
              <a:t>1 300–3 700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4288536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444A52"/>
                </a:solidFill>
                <a:latin typeface="Calibri"/>
              </a:rPr>
              <a:t>Energiya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288536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Yuqori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4288536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E8E5A"/>
                </a:solidFill>
                <a:latin typeface="Calibri"/>
              </a:rPr>
              <a:t>Past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4855464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444A52"/>
                </a:solidFill>
                <a:latin typeface="Calibri"/>
              </a:rPr>
              <a:t>Tezlik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855464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Yuqori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4855464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E8E5A"/>
                </a:solidFill>
                <a:latin typeface="Calibri"/>
              </a:rPr>
              <a:t>O'rtacha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5422392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444A52"/>
                </a:solidFill>
                <a:latin typeface="Calibri"/>
              </a:rPr>
              <a:t>IoT mosligi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5422392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Mos emas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21240" y="5422392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E8E5A"/>
                </a:solidFill>
                <a:latin typeface="Calibri"/>
              </a:rPr>
              <a:t>A'lo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1050</Words>
  <Application>Microsoft Office PowerPoint</Application>
  <PresentationFormat>Широкоэкранный</PresentationFormat>
  <Paragraphs>180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Abbosxon Ahmadxo'jayev</cp:lastModifiedBy>
  <cp:revision>2</cp:revision>
  <dcterms:created xsi:type="dcterms:W3CDTF">2013-01-27T09:14:16Z</dcterms:created>
  <dcterms:modified xsi:type="dcterms:W3CDTF">2026-06-18T14:13:07Z</dcterms:modified>
  <cp:category/>
</cp:coreProperties>
</file>